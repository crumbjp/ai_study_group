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5" r:id="rId16"/>
    <p:sldId id="275" r:id="rId26"/>
    <p:sldId id="276" r:id="rId27"/>
    <p:sldId id="277" r:id="rId28"/>
    <p:sldId id="278" r:id="rId29"/>
    <p:sldId id="264" r:id="rId15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7"/>
    <p:sldId id="267" r:id="rId18"/>
    <p:sldId id="269" r:id="rId20"/>
    <p:sldId id="268" r:id="rId19"/>
    <p:sldId id="273" r:id="rId24"/>
    <p:sldId id="271" r:id="rId22"/>
    <p:sldId id="270" r:id="rId21"/>
    <p:sldId id="272" r:id="rId23"/>
    <p:sldId id="279" r:id="rId30"/>
    <p:sldId id="274" r:id="rId25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1-1.png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2-1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3-1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4-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03320" y="685800"/>
            <a:ext cx="1737360" cy="1737360"/>
          </a:xfrm>
          <a:prstGeom prst="ellipse">
            <a:avLst/>
          </a:prstGeom>
          <a:solidFill>
            <a:srgbClr val="D97757">
              <a:alpha val="20000"/>
            </a:srgbClr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1920" y="914400"/>
            <a:ext cx="1280160" cy="12801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14300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606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spc="10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</a:t>
            </a:r>
            <a:endParaRPr lang="en-US" sz="8200" dirty="0"/>
          </a:p>
        </p:txBody>
      </p:sp>
      <p:sp>
        <p:nvSpPr>
          <p:cNvPr id="7" name="Text 4"/>
          <p:cNvSpPr/>
          <p:nvPr/>
        </p:nvSpPr>
        <p:spPr>
          <a:xfrm>
            <a:off x="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5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Anthropic の AI アシスタント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— 考えるパートナーとしての AI —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 / 24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のプランと機能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Plans &amp; features at a glance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8B5CF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1700784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1005840"/>
            <a:ext cx="1700784" cy="77724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07899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74320" y="14630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個人・お試し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74320" y="192024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$0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1152144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651760"/>
            <a:ext cx="14264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利用量: 限定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Sonnet / Haiku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Code: ✕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コネクタ: 1個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039112" y="1005840"/>
            <a:ext cx="1700784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039112" y="1005840"/>
            <a:ext cx="1700784" cy="7772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39112" y="107899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039112" y="14630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個人・標準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39112" y="192024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$20 /月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2313432" y="2514600"/>
            <a:ext cx="1152144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76272" y="2651760"/>
            <a:ext cx="14264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利用量: 標準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Opus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Code: ✓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Projects / Research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803904" y="1005840"/>
            <a:ext cx="1700784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803904" y="1005840"/>
            <a:ext cx="1700784" cy="77724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03904" y="107899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Max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803904" y="14630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個人・ヘビー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803904" y="192024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$100〜200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4078224" y="2514600"/>
            <a:ext cx="1152144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41064" y="2651760"/>
            <a:ext cx="14264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利用量: Pro の 5x / 20x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Opus 優先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Code: ✓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早期アクセス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68696" y="1005840"/>
            <a:ext cx="1700784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568696" y="1005840"/>
            <a:ext cx="1700784" cy="77724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568696" y="107899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Team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568696" y="14630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5〜150 人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568696" y="192024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$25 /席・月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5843016" y="2514600"/>
            <a:ext cx="1152144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05856" y="2651760"/>
            <a:ext cx="14264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組織共有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Opus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Code: ✓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SSO / 集中管理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333488" y="1005840"/>
            <a:ext cx="1700784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333488" y="1005840"/>
            <a:ext cx="1700784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33488" y="1078992"/>
            <a:ext cx="1700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7333488" y="1463040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全社規模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33488" y="1920240"/>
            <a:ext cx="17007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要問合せ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7607808" y="2514600"/>
            <a:ext cx="1152144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70648" y="2651760"/>
            <a:ext cx="1426464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カスタム上限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高度モデル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Code: ✓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SCIM / 監査 / HIPAA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料金は2026年6月時点・公式表記。利用量は相対比較。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 AI プロダクト比較 — 何ができるか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 / Codex / Claude / Cowork / Claude Code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0EA5E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960120"/>
            <a:ext cx="1554480" cy="45720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960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機能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737360" y="960120"/>
            <a:ext cx="1444752" cy="457200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9601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ChatGPT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182112" y="960120"/>
            <a:ext cx="1444752" cy="45720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82112" y="9601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Codex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26864" y="960120"/>
            <a:ext cx="14447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9601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71616" y="960120"/>
            <a:ext cx="1444752" cy="4572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71616" y="9601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Cowork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16368" y="960120"/>
            <a:ext cx="1444752" cy="45720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16368" y="960120"/>
            <a:ext cx="1444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Code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82880" y="141732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6032" y="141732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主な用途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7360" y="141732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83080" y="14173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汎用チャット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82112" y="141732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27832" y="14173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コード開発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26864" y="141732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72584" y="14173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汎用チャット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71616" y="141732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4173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業務代行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16368" y="141732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62088" y="14173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コード開発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82880" y="182880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6032" y="18288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画像を作る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37360" y="182880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83080" y="18288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 GPT-Image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182112" y="182880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27832" y="18288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182880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72584" y="18288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6071616" y="182880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17336" y="18288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516368" y="182880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562088" y="18288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82880" y="224028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6032" y="224028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ローカルFS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1737360" y="224028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783080" y="22402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82112" y="224028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27832" y="22402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4626864" y="224028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2584" y="22402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6071616" y="224028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117336" y="22402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7516368" y="224028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62088" y="22402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182880" y="265176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6032" y="265176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コード開発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737360" y="265176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783080" y="26517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3182112" y="265176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27832" y="26517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4626864" y="265176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72584" y="26517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6071616" y="265176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17336" y="26517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△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7516368" y="265176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562088" y="265176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182880" y="306324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56032" y="306324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指示書 (前置)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737360" y="306324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783080" y="30632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182112" y="306324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27832" y="30632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AGENTS.md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26864" y="306324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72584" y="30632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Projects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071616" y="306324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7336" y="30632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516368" y="306324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562088" y="306324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CLAUDE.md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182880" y="347472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56032" y="347472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Skills (拡張)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1737360" y="347472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783080" y="3474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83" name="Shape 81"/>
          <p:cNvSpPr/>
          <p:nvPr/>
        </p:nvSpPr>
        <p:spPr>
          <a:xfrm>
            <a:off x="3182112" y="347472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227832" y="3474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SKILL.md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626864" y="347472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72584" y="3474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87" name="Shape 85"/>
          <p:cNvSpPr/>
          <p:nvPr/>
        </p:nvSpPr>
        <p:spPr>
          <a:xfrm>
            <a:off x="6071616" y="347472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117336" y="3474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SKILL.md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516368" y="347472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62088" y="3474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SKILL.md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182880" y="388620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56032" y="38862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定期実行 ローカル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1737360" y="388620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783080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3182112" y="388620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227832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97" name="Shape 95"/>
          <p:cNvSpPr/>
          <p:nvPr/>
        </p:nvSpPr>
        <p:spPr>
          <a:xfrm>
            <a:off x="4626864" y="388620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72584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6071616" y="388620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117336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✓</a:t>
            </a:r>
            <a:endParaRPr lang="en-US" sz="1400" dirty="0"/>
          </a:p>
        </p:txBody>
      </p:sp>
      <p:sp>
        <p:nvSpPr>
          <p:cNvPr id="101" name="Shape 99"/>
          <p:cNvSpPr/>
          <p:nvPr/>
        </p:nvSpPr>
        <p:spPr>
          <a:xfrm>
            <a:off x="7516368" y="3886200"/>
            <a:ext cx="1444752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562088" y="388620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/schedule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182880" y="4297680"/>
            <a:ext cx="1554480" cy="411480"/>
          </a:xfrm>
          <a:prstGeom prst="rect">
            <a:avLst/>
          </a:prstGeom>
          <a:solidFill>
            <a:srgbClr val="EEF2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56032" y="429768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定期実行 クラウド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737360" y="429768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783080" y="42976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Tasks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3182112" y="429768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227832" y="42976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4626864" y="429768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672584" y="42976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111" name="Shape 109"/>
          <p:cNvSpPr/>
          <p:nvPr/>
        </p:nvSpPr>
        <p:spPr>
          <a:xfrm>
            <a:off x="6071616" y="429768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117336" y="42976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–</a:t>
            </a:r>
            <a:endParaRPr lang="en-US" sz="1400" dirty="0"/>
          </a:p>
        </p:txBody>
      </p:sp>
      <p:sp>
        <p:nvSpPr>
          <p:cNvPr id="113" name="Shape 111"/>
          <p:cNvSpPr/>
          <p:nvPr/>
        </p:nvSpPr>
        <p:spPr>
          <a:xfrm>
            <a:off x="7516368" y="4297680"/>
            <a:ext cx="1444752" cy="41148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7562088" y="429768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Routines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182880" y="4754880"/>
            <a:ext cx="8778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△=限定的／2026年6月時点・代表的な観点のみ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21D4B4"/>
          </a:solidFill>
          <a:ln w="12700">
            <a:solidFill>
              <a:srgbClr val="21D4B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03320" y="685800"/>
            <a:ext cx="1737360" cy="1737360"/>
          </a:xfrm>
          <a:prstGeom prst="ellipse">
            <a:avLst/>
          </a:prstGeom>
          <a:solidFill>
            <a:srgbClr val="21D4B4">
              <a:alpha val="20000"/>
            </a:srgbClr>
          </a:solidFill>
          <a:ln w="12700">
            <a:solidFill>
              <a:srgbClr val="21D4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1920" y="914400"/>
            <a:ext cx="1280160" cy="1280160"/>
          </a:xfrm>
          <a:prstGeom prst="ellipse">
            <a:avLst/>
          </a:prstGeom>
          <a:solidFill>
            <a:srgbClr val="21D4B4"/>
          </a:solidFill>
          <a:ln w="12700">
            <a:solidFill>
              <a:srgbClr val="21D4B4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14300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606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spc="10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8200" dirty="0"/>
          </a:p>
        </p:txBody>
      </p:sp>
      <p:sp>
        <p:nvSpPr>
          <p:cNvPr id="7" name="Text 4"/>
          <p:cNvSpPr/>
          <p:nvPr/>
        </p:nvSpPr>
        <p:spPr>
          <a:xfrm>
            <a:off x="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500" kern="0" dirty="0">
                <a:solidFill>
                  <a:srgbClr val="21D4B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Model Context Protocol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— AI とアプリをつなぐ共通プロトコル —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21D4B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 / 24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MCP以前 — 三者三様の困りごと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Who is hurting, and why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E74C3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21158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357884"/>
            <a:ext cx="393192" cy="3931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4752" y="106984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AI開発者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44752" y="134416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…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44752" y="1600200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繋ぎたいアプリ毎に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専用の連携を書く必要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65760" y="2267712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" y="2267712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519172"/>
            <a:ext cx="685800" cy="685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665476"/>
            <a:ext cx="393192" cy="3931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44752" y="237744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アプリ開発者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444752" y="2651760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Gmail / Slack …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444752" y="290779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AI毎に仕様が違い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同じ機能を作り直す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365760" y="3575304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65760" y="3575304"/>
            <a:ext cx="91440" cy="11887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4360" y="3826764"/>
            <a:ext cx="685800" cy="68580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973068"/>
            <a:ext cx="393192" cy="39319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44752" y="368503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489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ユーザー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444752" y="3959352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（あなた）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444752" y="42153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使いたい組合せが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実装されていない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4663440" y="960120"/>
            <a:ext cx="4160520" cy="3922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4663440" y="10972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組合せ表  (AI × アプリ)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446520" y="148132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7162" y="1591970"/>
            <a:ext cx="281635" cy="281635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17920" y="200253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</a:t>
            </a:r>
            <a:endParaRPr lang="en-US" sz="900" dirty="0"/>
          </a:p>
        </p:txBody>
      </p:sp>
      <p:sp>
        <p:nvSpPr>
          <p:cNvPr id="33" name="Shape 27"/>
          <p:cNvSpPr/>
          <p:nvPr/>
        </p:nvSpPr>
        <p:spPr>
          <a:xfrm>
            <a:off x="7159752" y="148132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0394" y="1591970"/>
            <a:ext cx="281635" cy="281635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6931152" y="200253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872984" y="148132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3626" y="1591970"/>
            <a:ext cx="281635" cy="281635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7644384" y="2002536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4937760" y="23317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8402" y="2442362"/>
            <a:ext cx="281635" cy="281635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5486400" y="233172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Gmail</a:t>
            </a:r>
            <a:endParaRPr lang="en-US" sz="1000" dirty="0"/>
          </a:p>
        </p:txBody>
      </p:sp>
      <p:sp>
        <p:nvSpPr>
          <p:cNvPr id="42" name="Shape 33"/>
          <p:cNvSpPr/>
          <p:nvPr/>
        </p:nvSpPr>
        <p:spPr>
          <a:xfrm>
            <a:off x="6446520" y="23317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CFFF7"/>
          </a:solidFill>
          <a:ln w="12700">
            <a:solidFill>
              <a:srgbClr val="21D4B4"/>
            </a:solidFill>
            <a:prstDash val="solid"/>
          </a:ln>
        </p:spPr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6248" y="2441448"/>
            <a:ext cx="283464" cy="283464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7159752" y="23317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2441448"/>
            <a:ext cx="283464" cy="283464"/>
          </a:xfrm>
          <a:prstGeom prst="rect">
            <a:avLst/>
          </a:prstGeom>
        </p:spPr>
      </p:pic>
      <p:sp>
        <p:nvSpPr>
          <p:cNvPr id="46" name="Shape 35"/>
          <p:cNvSpPr/>
          <p:nvPr/>
        </p:nvSpPr>
        <p:spPr>
          <a:xfrm>
            <a:off x="7872984" y="23317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4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82712" y="2441448"/>
            <a:ext cx="283464" cy="283464"/>
          </a:xfrm>
          <a:prstGeom prst="rect">
            <a:avLst/>
          </a:prstGeom>
        </p:spPr>
      </p:pic>
      <p:sp>
        <p:nvSpPr>
          <p:cNvPr id="48" name="Shape 36"/>
          <p:cNvSpPr/>
          <p:nvPr/>
        </p:nvSpPr>
        <p:spPr>
          <a:xfrm>
            <a:off x="4937760" y="304495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48402" y="3155594"/>
            <a:ext cx="281635" cy="281635"/>
          </a:xfrm>
          <a:prstGeom prst="rect">
            <a:avLst/>
          </a:prstGeom>
        </p:spPr>
      </p:pic>
      <p:sp>
        <p:nvSpPr>
          <p:cNvPr id="50" name="Text 37"/>
          <p:cNvSpPr/>
          <p:nvPr/>
        </p:nvSpPr>
        <p:spPr>
          <a:xfrm>
            <a:off x="5486400" y="3044952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Slack</a:t>
            </a:r>
            <a:endParaRPr lang="en-US" sz="1000" dirty="0"/>
          </a:p>
        </p:txBody>
      </p:sp>
      <p:sp>
        <p:nvSpPr>
          <p:cNvPr id="51" name="Shape 38"/>
          <p:cNvSpPr/>
          <p:nvPr/>
        </p:nvSpPr>
        <p:spPr>
          <a:xfrm>
            <a:off x="6446520" y="304495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52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6248" y="3154680"/>
            <a:ext cx="283464" cy="283464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7159752" y="304495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CFFF7"/>
          </a:solidFill>
          <a:ln w="12700">
            <a:solidFill>
              <a:srgbClr val="21D4B4"/>
            </a:solidFill>
            <a:prstDash val="solid"/>
          </a:ln>
        </p:spPr>
      </p:sp>
      <p:pic>
        <p:nvPicPr>
          <p:cNvPr id="5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69480" y="3154680"/>
            <a:ext cx="283464" cy="283464"/>
          </a:xfrm>
          <a:prstGeom prst="rect">
            <a:avLst/>
          </a:prstGeom>
        </p:spPr>
      </p:pic>
      <p:sp>
        <p:nvSpPr>
          <p:cNvPr id="55" name="Shape 40"/>
          <p:cNvSpPr/>
          <p:nvPr/>
        </p:nvSpPr>
        <p:spPr>
          <a:xfrm>
            <a:off x="7872984" y="3044952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56" name="Image 1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82712" y="3154680"/>
            <a:ext cx="283464" cy="283464"/>
          </a:xfrm>
          <a:prstGeom prst="rect">
            <a:avLst/>
          </a:prstGeom>
        </p:spPr>
      </p:pic>
      <p:sp>
        <p:nvSpPr>
          <p:cNvPr id="57" name="Shape 41"/>
          <p:cNvSpPr/>
          <p:nvPr/>
        </p:nvSpPr>
        <p:spPr>
          <a:xfrm>
            <a:off x="4937760" y="375818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58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048402" y="3868826"/>
            <a:ext cx="281635" cy="281635"/>
          </a:xfrm>
          <a:prstGeom prst="rect">
            <a:avLst/>
          </a:prstGeom>
        </p:spPr>
      </p:pic>
      <p:sp>
        <p:nvSpPr>
          <p:cNvPr id="59" name="Text 42"/>
          <p:cNvSpPr/>
          <p:nvPr/>
        </p:nvSpPr>
        <p:spPr>
          <a:xfrm>
            <a:off x="5486400" y="3758184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カレンダー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6446520" y="3758184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6248" y="3867912"/>
            <a:ext cx="283464" cy="283464"/>
          </a:xfrm>
          <a:prstGeom prst="rect">
            <a:avLst/>
          </a:prstGeom>
        </p:spPr>
      </p:pic>
      <p:sp>
        <p:nvSpPr>
          <p:cNvPr id="62" name="Shape 44"/>
          <p:cNvSpPr/>
          <p:nvPr/>
        </p:nvSpPr>
        <p:spPr>
          <a:xfrm>
            <a:off x="7159752" y="3758184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FFE4E0"/>
          </a:solidFill>
          <a:ln w="12700">
            <a:solidFill>
              <a:srgbClr val="E74C3C"/>
            </a:solidFill>
            <a:prstDash val="solid"/>
          </a:ln>
        </p:spPr>
      </p:sp>
      <p:pic>
        <p:nvPicPr>
          <p:cNvPr id="63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69480" y="3867912"/>
            <a:ext cx="283464" cy="283464"/>
          </a:xfrm>
          <a:prstGeom prst="rect">
            <a:avLst/>
          </a:prstGeom>
        </p:spPr>
      </p:pic>
      <p:sp>
        <p:nvSpPr>
          <p:cNvPr id="64" name="Shape 45"/>
          <p:cNvSpPr/>
          <p:nvPr/>
        </p:nvSpPr>
        <p:spPr>
          <a:xfrm>
            <a:off x="7872984" y="3758184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DCFFF7"/>
          </a:solidFill>
          <a:ln w="12700">
            <a:solidFill>
              <a:srgbClr val="21D4B4"/>
            </a:solidFill>
            <a:prstDash val="solid"/>
          </a:ln>
        </p:spPr>
      </p:sp>
      <p:pic>
        <p:nvPicPr>
          <p:cNvPr id="65" name="Image 1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82712" y="3867912"/>
            <a:ext cx="283464" cy="283464"/>
          </a:xfrm>
          <a:prstGeom prst="rect">
            <a:avLst/>
          </a:prstGeom>
        </p:spPr>
      </p:pic>
      <p:sp>
        <p:nvSpPr>
          <p:cNvPr id="66" name="Text 46"/>
          <p:cNvSpPr/>
          <p:nvPr/>
        </p:nvSpPr>
        <p:spPr>
          <a:xfrm>
            <a:off x="4663440" y="45171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対応する組合せだけ ✓  ／  残りは未対応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21D4B4"/>
          </a:solidFill>
          <a:ln w="12700">
            <a:solidFill>
              <a:srgbClr val="21D4B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MCP導入 — 全員が楽になる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 protocol, everyone wins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21D4B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960120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211580"/>
            <a:ext cx="685800" cy="68580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1357884"/>
            <a:ext cx="393192" cy="39319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444752" y="1069848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366F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AI開発者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444752" y="1344168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OpenAI / Anthropic …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444752" y="1600200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MCPに1度対応すれば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全アプリと繋がる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65760" y="2267712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" y="2267712"/>
            <a:ext cx="91440" cy="1188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2519172"/>
            <a:ext cx="685800" cy="6858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2665476"/>
            <a:ext cx="393192" cy="39319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444752" y="2377440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アプリ開発者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1444752" y="2651760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Gmail / Slack …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444752" y="2907792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MCPサーバーを1つで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全AIから呼ばれる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365760" y="3575304"/>
            <a:ext cx="416052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365760" y="3575304"/>
            <a:ext cx="91440" cy="11887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94360" y="3826764"/>
            <a:ext cx="685800" cy="685800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3973068"/>
            <a:ext cx="393192" cy="39319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444752" y="3685032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EC489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ユーザー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1444752" y="3959352"/>
            <a:ext cx="2944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（あなた）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1444752" y="42153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好きな組合せを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自由に使える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4663440" y="960120"/>
            <a:ext cx="4160520" cy="3922776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6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4663440" y="109728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MCP がハブとして仲介</a:t>
            </a:r>
            <a:endParaRPr lang="en-US" sz="1100" dirty="0"/>
          </a:p>
        </p:txBody>
      </p:sp>
      <p:sp>
        <p:nvSpPr>
          <p:cNvPr id="30" name="Shape 25"/>
          <p:cNvSpPr/>
          <p:nvPr/>
        </p:nvSpPr>
        <p:spPr>
          <a:xfrm>
            <a:off x="6112764" y="2043684"/>
            <a:ext cx="1261872" cy="1261872"/>
          </a:xfrm>
          <a:prstGeom prst="ellipse">
            <a:avLst/>
          </a:prstGeom>
          <a:solidFill>
            <a:srgbClr val="21D4B4">
              <a:alpha val="25000"/>
            </a:srgbClr>
          </a:solidFill>
          <a:ln w="12700">
            <a:solidFill>
              <a:srgbClr val="21D4B4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5495833" y="1993965"/>
            <a:ext cx="806356" cy="43983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 flipV="1">
            <a:off x="5532120" y="2674620"/>
            <a:ext cx="708660" cy="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 flipV="1">
            <a:off x="5495833" y="2915444"/>
            <a:ext cx="806356" cy="43983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 flipV="1">
            <a:off x="7185211" y="1993965"/>
            <a:ext cx="806356" cy="43983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246620" y="2674620"/>
            <a:ext cx="708660" cy="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7185211" y="2915444"/>
            <a:ext cx="806356" cy="439830"/>
          </a:xfrm>
          <a:prstGeom prst="line">
            <a:avLst/>
          </a:prstGeom>
          <a:noFill/>
          <a:ln w="38100">
            <a:solidFill>
              <a:srgbClr val="21D4B4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40780" y="2171700"/>
            <a:ext cx="1005840" cy="1005840"/>
          </a:xfrm>
          <a:prstGeom prst="ellipse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5000"/>
              </a:srgbClr>
            </a:outerShdw>
          </a:effectLst>
        </p:spPr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8524" y="2318004"/>
            <a:ext cx="530352" cy="36576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240780" y="270205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21D4B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4937760" y="155448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8519" y="1685239"/>
            <a:ext cx="332842" cy="332842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4709160" y="21671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ChatGPT</a:t>
            </a:r>
            <a:endParaRPr lang="en-US" sz="900" dirty="0"/>
          </a:p>
        </p:txBody>
      </p:sp>
      <p:sp>
        <p:nvSpPr>
          <p:cNvPr id="43" name="Shape 36"/>
          <p:cNvSpPr/>
          <p:nvPr/>
        </p:nvSpPr>
        <p:spPr>
          <a:xfrm>
            <a:off x="4937760" y="237744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4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8519" y="2508199"/>
            <a:ext cx="332842" cy="332842"/>
          </a:xfrm>
          <a:prstGeom prst="rect">
            <a:avLst/>
          </a:prstGeom>
        </p:spPr>
      </p:pic>
      <p:sp>
        <p:nvSpPr>
          <p:cNvPr id="45" name="Text 37"/>
          <p:cNvSpPr/>
          <p:nvPr/>
        </p:nvSpPr>
        <p:spPr>
          <a:xfrm>
            <a:off x="4709160" y="299008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</a:t>
            </a:r>
            <a:endParaRPr lang="en-US" sz="900" dirty="0"/>
          </a:p>
        </p:txBody>
      </p:sp>
      <p:sp>
        <p:nvSpPr>
          <p:cNvPr id="46" name="Shape 38"/>
          <p:cNvSpPr/>
          <p:nvPr/>
        </p:nvSpPr>
        <p:spPr>
          <a:xfrm>
            <a:off x="4937760" y="320040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366F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8519" y="3331159"/>
            <a:ext cx="332842" cy="332842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4709160" y="38130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Gemini</a:t>
            </a:r>
            <a:endParaRPr lang="en-US" sz="900" dirty="0"/>
          </a:p>
        </p:txBody>
      </p:sp>
      <p:sp>
        <p:nvSpPr>
          <p:cNvPr id="49" name="Shape 40"/>
          <p:cNvSpPr/>
          <p:nvPr/>
        </p:nvSpPr>
        <p:spPr>
          <a:xfrm>
            <a:off x="7955280" y="155448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86039" y="1685239"/>
            <a:ext cx="332842" cy="332842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7726680" y="216712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Gmail</a:t>
            </a:r>
            <a:endParaRPr lang="en-US" sz="900" dirty="0"/>
          </a:p>
        </p:txBody>
      </p:sp>
      <p:sp>
        <p:nvSpPr>
          <p:cNvPr id="52" name="Shape 42"/>
          <p:cNvSpPr/>
          <p:nvPr/>
        </p:nvSpPr>
        <p:spPr>
          <a:xfrm>
            <a:off x="7955280" y="237744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86039" y="2508199"/>
            <a:ext cx="332842" cy="332842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7726680" y="299008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Slack</a:t>
            </a:r>
            <a:endParaRPr lang="en-US" sz="900" dirty="0"/>
          </a:p>
        </p:txBody>
      </p:sp>
      <p:sp>
        <p:nvSpPr>
          <p:cNvPr id="55" name="Shape 44"/>
          <p:cNvSpPr/>
          <p:nvPr/>
        </p:nvSpPr>
        <p:spPr>
          <a:xfrm>
            <a:off x="7955280" y="3200400"/>
            <a:ext cx="594360" cy="5943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0000"/>
              </a:srgbClr>
            </a:outerShdw>
          </a:effectLst>
        </p:spPr>
      </p:sp>
      <p:pic>
        <p:nvPicPr>
          <p:cNvPr id="56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86039" y="3331159"/>
            <a:ext cx="332842" cy="332842"/>
          </a:xfrm>
          <a:prstGeom prst="rect">
            <a:avLst/>
          </a:prstGeom>
        </p:spPr>
      </p:pic>
      <p:sp>
        <p:nvSpPr>
          <p:cNvPr id="57" name="Text 45"/>
          <p:cNvSpPr/>
          <p:nvPr/>
        </p:nvSpPr>
        <p:spPr>
          <a:xfrm>
            <a:off x="7726680" y="3813048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カレンダー</a:t>
            </a:r>
            <a:endParaRPr lang="en-US" sz="900" dirty="0"/>
          </a:p>
        </p:txBody>
      </p:sp>
      <p:sp>
        <p:nvSpPr>
          <p:cNvPr id="58" name="Text 46"/>
          <p:cNvSpPr/>
          <p:nvPr/>
        </p:nvSpPr>
        <p:spPr>
          <a:xfrm>
            <a:off x="4663440" y="451713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+ 3 = 6 個の対応で、全 9 通りをカバー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03320" y="685800"/>
            <a:ext cx="1737360" cy="1737360"/>
          </a:xfrm>
          <a:prstGeom prst="ellipse">
            <a:avLst/>
          </a:prstGeom>
          <a:solidFill>
            <a:srgbClr val="58A6FF">
              <a:alpha val="20000"/>
            </a:srgbClr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31920" y="914400"/>
            <a:ext cx="1280160" cy="1280160"/>
          </a:xfrm>
          <a:prstGeom prst="ellipse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143000"/>
            <a:ext cx="822960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60604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0" b="1" spc="10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8200" dirty="0"/>
          </a:p>
        </p:txBody>
      </p:sp>
      <p:sp>
        <p:nvSpPr>
          <p:cNvPr id="7" name="Text 4"/>
          <p:cNvSpPr/>
          <p:nvPr/>
        </p:nvSpPr>
        <p:spPr>
          <a:xfrm>
            <a:off x="0" y="37490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500" kern="0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コードと文書の共有プラットフォーム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— リポジトリで管理、公開／非公開を選択 —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 / 24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とリポジトリ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Repositories, public vs private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914400"/>
            <a:ext cx="91440" cy="9601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GitHub とは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2984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プログラムや文書を 保管・共有する クラウドサービス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914400"/>
            <a:ext cx="91440" cy="96012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リポジトリ (repository)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129844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 1 つ分の「箱」。例: アプリ 1 つ = 1 リポジトリ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057400"/>
            <a:ext cx="420624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057400"/>
            <a:ext cx="4206240" cy="594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1762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2240280"/>
            <a:ext cx="237744" cy="237744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914400" y="2057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Public  （公開）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0292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誰でも閲覧・コピーできる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OSS・ポートフォリオ・公開資料向き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検索エンジンにも掲載される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3886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例: React, VS Code 本体, Linux カーネル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663440" y="2057400"/>
            <a:ext cx="4206240" cy="219456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663440" y="2057400"/>
            <a:ext cx="4206240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846320" y="2176272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240280"/>
            <a:ext cx="237744" cy="23774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303520" y="2057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Private  （非公開）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4892040" y="283464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招待されたメンバーだけ閲覧可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業務コード・社内文書・個人ノート向き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プランでも作成可（無制限）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4846320" y="3886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例: 社内プロダクトのソース、機密設計書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274320" y="44348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プラン: </a:t>
            </a:r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Free $0 </a:t>
            </a:r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/ </a:t>
            </a:r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Team $4 </a:t>
            </a:r>
            <a:pPr algn="ctr" indent="0" marL="0">
              <a:buNone/>
            </a:pPr>
            <a:r>
              <a:rPr lang="en-US" sz="120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/ </a:t>
            </a:r>
            <a:pPr algn="ctr" indent="0" marL="0">
              <a:buNone/>
            </a:pPr>
            <a:r>
              <a:rPr lang="en-US" sz="12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Enterprise $21 </a:t>
            </a:r>
            <a:pPr algn="ctr" indent="0" marL="0">
              <a:buNone/>
            </a:pPr>
            <a:r>
              <a:rPr lang="en-US" sz="12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(1 ユーザー・月)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274320" y="475488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Free でも Public / Private リポジトリは無制限に作成可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Timeline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タイムライン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Today's agenda — about 2 hours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 / 24</a:t>
            </a:r>
            <a:endParaRPr lang="en-US" sz="1000" dirty="0"/>
          </a:p>
        </p:txBody>
      </p:sp>
      <p:sp>
        <p:nvSpPr>
          <p:cNvPr id="7" name="Timeline Line"/>
          <p:cNvSpPr/>
          <p:nvPr/>
        </p:nvSpPr>
        <p:spPr>
          <a:xfrm>
            <a:off x="981712" y="1460000"/>
            <a:ext cx="36576" cy="2760000"/>
          </a:xfrm>
          <a:prstGeom prst="rect">
            <a:avLst/>
          </a:prstGeom>
          <a:solidFill>
            <a:srgbClr val="CBD5E1"/>
          </a:solidFill>
          <a:ln>
            <a:noFill/>
          </a:ln>
        </p:spPr>
      </p:sp>
      <p:sp>
        <p:nvSpPr>
          <p:cNvPr id="8" name="Card 1"/>
          <p:cNvSpPr/>
          <p:nvPr/>
        </p:nvSpPr>
        <p:spPr>
          <a:xfrm>
            <a:off x="1500000" y="1100000"/>
            <a:ext cx="69582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Card 2"/>
          <p:cNvSpPr/>
          <p:nvPr/>
        </p:nvSpPr>
        <p:spPr>
          <a:xfrm>
            <a:off x="1500000" y="2020000"/>
            <a:ext cx="69582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Card 3"/>
          <p:cNvSpPr/>
          <p:nvPr/>
        </p:nvSpPr>
        <p:spPr>
          <a:xfrm>
            <a:off x="1500000" y="2940000"/>
            <a:ext cx="69582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Card 4"/>
          <p:cNvSpPr/>
          <p:nvPr/>
        </p:nvSpPr>
        <p:spPr>
          <a:xfrm>
            <a:off x="1500000" y="3860000"/>
            <a:ext cx="69582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2" name="Node 1"/>
          <p:cNvSpPr/>
          <p:nvPr/>
        </p:nvSpPr>
        <p:spPr>
          <a:xfrm>
            <a:off x="720000" y="1180000"/>
            <a:ext cx="560000" cy="560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Node 2"/>
          <p:cNvSpPr/>
          <p:nvPr/>
        </p:nvSpPr>
        <p:spPr>
          <a:xfrm>
            <a:off x="720000" y="2100000"/>
            <a:ext cx="560000" cy="560000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Node 3"/>
          <p:cNvSpPr/>
          <p:nvPr/>
        </p:nvSpPr>
        <p:spPr>
          <a:xfrm>
            <a:off x="720000" y="3020000"/>
            <a:ext cx="560000" cy="56000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Node 4"/>
          <p:cNvSpPr/>
          <p:nvPr/>
        </p:nvSpPr>
        <p:spPr>
          <a:xfrm>
            <a:off x="720000" y="3940000"/>
            <a:ext cx="560000" cy="56000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Badge 1"/>
          <p:cNvSpPr/>
          <p:nvPr/>
        </p:nvSpPr>
        <p:spPr>
          <a:xfrm>
            <a:off x="6960000" y="1240000"/>
            <a:ext cx="1280000" cy="4400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分</a:t>
            </a:r>
            <a:endParaRPr lang="en-US" sz="1400" dirty="0"/>
          </a:p>
        </p:txBody>
      </p:sp>
      <p:sp>
        <p:nvSpPr>
          <p:cNvPr id="17" name="Badge 2"/>
          <p:cNvSpPr/>
          <p:nvPr/>
        </p:nvSpPr>
        <p:spPr>
          <a:xfrm>
            <a:off x="6960000" y="2160000"/>
            <a:ext cx="1280000" cy="440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分</a:t>
            </a:r>
            <a:endParaRPr lang="en-US" sz="1400" dirty="0"/>
          </a:p>
        </p:txBody>
      </p:sp>
      <p:sp>
        <p:nvSpPr>
          <p:cNvPr id="18" name="Badge 3"/>
          <p:cNvSpPr/>
          <p:nvPr/>
        </p:nvSpPr>
        <p:spPr>
          <a:xfrm>
            <a:off x="6960000" y="3080000"/>
            <a:ext cx="1280000" cy="44000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30 分</a:t>
            </a:r>
            <a:endParaRPr lang="en-US" sz="1400" dirty="0"/>
          </a:p>
        </p:txBody>
      </p:sp>
      <p:sp>
        <p:nvSpPr>
          <p:cNvPr id="19" name="Badge 4"/>
          <p:cNvSpPr/>
          <p:nvPr/>
        </p:nvSpPr>
        <p:spPr>
          <a:xfrm>
            <a:off x="6960000" y="4000000"/>
            <a:ext cx="1280000" cy="440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60 分</a:t>
            </a:r>
            <a:endParaRPr lang="en-US" sz="1400" dirty="0"/>
          </a:p>
        </p:txBody>
      </p:sp>
      <p:sp>
        <p:nvSpPr>
          <p:cNvPr id="20" name="Activity 1"/>
          <p:cNvSpPr/>
          <p:nvPr/>
        </p:nvSpPr>
        <p:spPr>
          <a:xfrm>
            <a:off x="1700000" y="1100000"/>
            <a:ext cx="506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座学</a:t>
            </a:r>
          </a:p>
          <a:p>
            <a:pPr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Lecture — 基礎の座学</a:t>
            </a:r>
            <a:endParaRPr lang="en-US" sz="1000" dirty="0"/>
          </a:p>
        </p:txBody>
      </p:sp>
      <p:sp>
        <p:nvSpPr>
          <p:cNvPr id="21" name="Activity 2"/>
          <p:cNvSpPr/>
          <p:nvPr/>
        </p:nvSpPr>
        <p:spPr>
          <a:xfrm>
            <a:off x="1700000" y="2020000"/>
            <a:ext cx="506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実演</a:t>
            </a:r>
          </a:p>
          <a:p>
            <a:pPr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 — 実際に動かして見せる</a:t>
            </a:r>
            <a:endParaRPr lang="en-US" sz="1000" dirty="0"/>
          </a:p>
        </p:txBody>
      </p:sp>
      <p:sp>
        <p:nvSpPr>
          <p:cNvPr id="22" name="Activity 3"/>
          <p:cNvSpPr/>
          <p:nvPr/>
        </p:nvSpPr>
        <p:spPr>
          <a:xfrm>
            <a:off x="1700000" y="2940000"/>
            <a:ext cx="506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デモ</a:t>
            </a:r>
          </a:p>
          <a:p>
            <a:pPr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Demo — 応用例のデモンストレーション</a:t>
            </a:r>
            <a:endParaRPr lang="en-US" sz="1000" dirty="0"/>
          </a:p>
        </p:txBody>
      </p:sp>
      <p:sp>
        <p:nvSpPr>
          <p:cNvPr id="23" name="Activity 4"/>
          <p:cNvSpPr/>
          <p:nvPr/>
        </p:nvSpPr>
        <p:spPr>
          <a:xfrm>
            <a:off x="1700000" y="3860000"/>
            <a:ext cx="506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ハンズオン ＋ 質問タイム</a:t>
            </a:r>
          </a:p>
          <a:p>
            <a:pPr indent="0" marL="0">
              <a:buNone/>
            </a:pPr>
            <a:r>
              <a:rPr lang="en-US" sz="1000" spc="2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Hands-on &amp; Q&amp;A — 各自で操作・質疑応答</a:t>
            </a:r>
            <a:endParaRPr lang="en-US" sz="1000" dirty="0"/>
          </a:p>
        </p:txBody>
      </p:sp>
      <p:sp>
        <p:nvSpPr>
          <p:cNvPr id="24" name="Footnote"/>
          <p:cNvSpPr/>
          <p:nvPr/>
        </p:nvSpPr>
        <p:spPr>
          <a:xfrm>
            <a:off x="4500000" y="4760000"/>
            <a:ext cx="39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合計 2 時間（120 分）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over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0" y="9000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6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第 1 回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0" y="1650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0" b="1" spc="8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勉強会</a:t>
            </a:r>
            <a:endParaRPr lang="en-US" sz="7000" dirty="0"/>
          </a:p>
        </p:txBody>
      </p:sp>
      <p:sp>
        <p:nvSpPr>
          <p:cNvPr id="5" name="Date"/>
          <p:cNvSpPr/>
          <p:nvPr/>
        </p:nvSpPr>
        <p:spPr>
          <a:xfrm>
            <a:off x="0" y="2900000"/>
            <a:ext cx="9144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spc="400" kern="0" dirty="0">
                <a:solidFill>
                  <a:srgbClr val="D977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/ 18</a:t>
            </a:r>
            <a:endParaRPr lang="en-US" sz="3200" dirty="0"/>
          </a:p>
        </p:txBody>
      </p:sp>
      <p:sp>
        <p:nvSpPr>
          <p:cNvPr id="6" name="Tagline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spc="3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・ MCP ・ GitHub</a:t>
            </a:r>
            <a:endParaRPr lang="en-US" sz="1300" dirty="0"/>
          </a:p>
        </p:txBody>
      </p:sp>
      <p:sp>
        <p:nvSpPr>
          <p:cNvPr id="7" name="Page Number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 / 24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Use Claude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0" y="1950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を使う</a:t>
            </a:r>
            <a:endParaRPr lang="en-US" sz="5400" dirty="0"/>
          </a:p>
        </p:txBody>
      </p:sp>
      <p:sp>
        <p:nvSpPr>
          <p:cNvPr id="4" name="Subtitle"/>
          <p:cNvSpPr/>
          <p:nvPr/>
        </p:nvSpPr>
        <p:spPr>
          <a:xfrm>
            <a:off x="0" y="3150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5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 ・ Cowork ・ Code</a:t>
            </a:r>
            <a:endParaRPr lang="en-US" sz="1700" dirty="0"/>
          </a:p>
        </p:txBody>
      </p:sp>
      <p:sp>
        <p:nvSpPr>
          <p:cNvPr id="5" name="Tagline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— 目的に合わせて 3 つの使い方 —</a:t>
            </a:r>
            <a:endParaRPr lang="en-US" sz="1300" dirty="0"/>
          </a:p>
        </p:txBody>
      </p:sp>
      <p:sp>
        <p:nvSpPr>
          <p:cNvPr id="6" name="Page Number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/ 24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Chat Cowork Code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 の 3 つの使い方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 / Cowork / Code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 / 24</a:t>
            </a:r>
            <a:endParaRPr lang="en-US" sz="1000" dirty="0"/>
          </a:p>
        </p:txBody>
      </p:sp>
      <p:sp>
        <p:nvSpPr>
          <p:cNvPr id="7" name="Card Chat"/>
          <p:cNvSpPr/>
          <p:nvPr/>
        </p:nvSpPr>
        <p:spPr>
          <a:xfrm>
            <a:off x="457200" y="1005840"/>
            <a:ext cx="2560320" cy="3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Cowork"/>
          <p:cNvSpPr/>
          <p:nvPr/>
        </p:nvSpPr>
        <p:spPr>
          <a:xfrm>
            <a:off x="3291840" y="1005840"/>
            <a:ext cx="2560320" cy="3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Card Code"/>
          <p:cNvSpPr/>
          <p:nvPr/>
        </p:nvSpPr>
        <p:spPr>
          <a:xfrm>
            <a:off x="6126480" y="1005840"/>
            <a:ext cx="2560320" cy="37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Band Chat"/>
          <p:cNvSpPr/>
          <p:nvPr/>
        </p:nvSpPr>
        <p:spPr>
          <a:xfrm>
            <a:off x="457200" y="1005840"/>
            <a:ext cx="2560320" cy="62000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Chat</a:t>
            </a:r>
            <a:endParaRPr lang="en-US" sz="2000" dirty="0"/>
          </a:p>
        </p:txBody>
      </p:sp>
      <p:sp>
        <p:nvSpPr>
          <p:cNvPr id="11" name="Band Cowork"/>
          <p:cNvSpPr/>
          <p:nvPr/>
        </p:nvSpPr>
        <p:spPr>
          <a:xfrm>
            <a:off x="3291840" y="1005840"/>
            <a:ext cx="2560320" cy="62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Cowork</a:t>
            </a:r>
            <a:endParaRPr lang="en-US" sz="2000" dirty="0"/>
          </a:p>
        </p:txBody>
      </p:sp>
      <p:sp>
        <p:nvSpPr>
          <p:cNvPr id="12" name="Band Code"/>
          <p:cNvSpPr/>
          <p:nvPr/>
        </p:nvSpPr>
        <p:spPr>
          <a:xfrm>
            <a:off x="6126480" y="1005840"/>
            <a:ext cx="2560320" cy="620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</a:t>
            </a:r>
            <a:endParaRPr lang="en-US" sz="2000" dirty="0"/>
          </a:p>
        </p:txBody>
      </p:sp>
      <p:sp>
        <p:nvSpPr>
          <p:cNvPr id="13" name="Body Chat"/>
          <p:cNvSpPr/>
          <p:nvPr/>
        </p:nvSpPr>
        <p:spPr>
          <a:xfrm>
            <a:off x="637200" y="1765840"/>
            <a:ext cx="220032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通常チャット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質問・相談・文章作成</a:t>
            </a:r>
          </a:p>
          <a:p>
            <a:pPr indent="0" marL="0">
              <a:spcBef>
                <a:spcPts val="1600"/>
              </a:spcBef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プロジェクト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一定の目的・文脈をもったチャットの集合。AI の過去記憶も分離して保持される。</a:t>
            </a:r>
          </a:p>
          <a:p>
            <a:pPr indent="0" marL="0">
              <a:spcBef>
                <a:spcPts val="1600"/>
              </a:spcBef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Artifact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ウェブサイトやツールの作成・公開など</a:t>
            </a:r>
          </a:p>
        </p:txBody>
      </p:sp>
      <p:sp>
        <p:nvSpPr>
          <p:cNvPr id="14" name="Body Cowork"/>
          <p:cNvSpPr/>
          <p:nvPr/>
        </p:nvSpPr>
        <p:spPr>
          <a:xfrm>
            <a:off x="3471840" y="1765840"/>
            <a:ext cx="220032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スケジュール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定期的に自動で実行</a:t>
            </a:r>
          </a:p>
          <a:p>
            <a:pPr indent="0" marL="0">
              <a:spcBef>
                <a:spcPts val="1600"/>
              </a:spcBef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ローカルファイル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PC を使った作業全般</a:t>
            </a:r>
          </a:p>
        </p:txBody>
      </p:sp>
      <p:sp>
        <p:nvSpPr>
          <p:cNvPr id="15" name="Body Code"/>
          <p:cNvSpPr/>
          <p:nvPr/>
        </p:nvSpPr>
        <p:spPr>
          <a:xfrm>
            <a:off x="6306480" y="1765840"/>
            <a:ext cx="2200320" cy="28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PC 設定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ソフトウェアインストール・操作など</a:t>
            </a:r>
          </a:p>
          <a:p>
            <a:pPr indent="0" marL="0">
              <a:spcBef>
                <a:spcPts val="1600"/>
              </a:spcBef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プログラミング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コードの作成・修正</a:t>
            </a:r>
          </a:p>
          <a:p>
            <a:pPr indent="0" marL="0">
              <a:spcBef>
                <a:spcPts val="1600"/>
              </a:spcBef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アプリ作成</a:t>
            </a:r>
          </a:p>
          <a:p>
            <a:pPr indent="0" marL="0">
              <a:buNone/>
            </a:pPr>
            <a:r>
              <a:rPr lang="en-US" sz="1000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アプリ開発まで</a:t>
            </a:r>
          </a:p>
        </p:txBody>
      </p:sp>
      <p:sp>
        <p:nvSpPr>
          <p:cNvPr id="16" name="Footnote"/>
          <p:cNvSpPr/>
          <p:nvPr/>
        </p:nvSpPr>
        <p:spPr>
          <a:xfrm>
            <a:off x="457200" y="47900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kern="0" dirty="0">
                <a:solidFill>
                  <a:srgbClr val="64748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目的に合わせて使い分けられる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Email Automation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メールチェック自動化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Automate email triage — MCP &amp; Schedule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18 / 24</a:t>
            </a:r>
            <a:endParaRPr lang="en-US" sz="1000" dirty="0"/>
          </a:p>
        </p:txBody>
      </p:sp>
      <p:sp>
        <p:nvSpPr>
          <p:cNvPr id="7" name="Card 1"/>
          <p:cNvSpPr/>
          <p:nvPr/>
        </p:nvSpPr>
        <p:spPr>
          <a:xfrm>
            <a:off x="457200" y="10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2"/>
          <p:cNvSpPr/>
          <p:nvPr/>
        </p:nvSpPr>
        <p:spPr>
          <a:xfrm>
            <a:off x="457200" y="2405840"/>
            <a:ext cx="8229600" cy="2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Number 1"/>
          <p:cNvSpPr/>
          <p:nvPr/>
        </p:nvSpPr>
        <p:spPr>
          <a:xfrm>
            <a:off x="685800" y="1125840"/>
            <a:ext cx="480000" cy="480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Number 2"/>
          <p:cNvSpPr/>
          <p:nvPr/>
        </p:nvSpPr>
        <p:spPr>
          <a:xfrm>
            <a:off x="685800" y="2505840"/>
            <a:ext cx="480000" cy="480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itle 1"/>
          <p:cNvSpPr/>
          <p:nvPr/>
        </p:nvSpPr>
        <p:spPr>
          <a:xfrm>
            <a:off x="1320000" y="11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MCP で Gmail とつなぐ</a:t>
            </a:r>
            <a:endParaRPr lang="en-US" sz="1600" dirty="0"/>
          </a:p>
        </p:txBody>
      </p:sp>
      <p:sp>
        <p:nvSpPr>
          <p:cNvPr id="12" name="Path 1"/>
          <p:cNvSpPr/>
          <p:nvPr/>
        </p:nvSpPr>
        <p:spPr>
          <a:xfrm>
            <a:off x="1320000" y="1625840"/>
            <a:ext cx="69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Customize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コネクタ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Gmail</a:t>
            </a:r>
            <a:endParaRPr lang="en-US" sz="1300" dirty="0"/>
          </a:p>
        </p:txBody>
      </p:sp>
      <p:sp>
        <p:nvSpPr>
          <p:cNvPr id="13" name="Title 2"/>
          <p:cNvSpPr/>
          <p:nvPr/>
        </p:nvSpPr>
        <p:spPr>
          <a:xfrm>
            <a:off x="1320000" y="256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スケジュールを作る</a:t>
            </a:r>
            <a:endParaRPr lang="en-US" sz="1600" dirty="0"/>
          </a:p>
        </p:txBody>
      </p:sp>
      <p:sp>
        <p:nvSpPr>
          <p:cNvPr id="14" name="Path 2"/>
          <p:cNvSpPr/>
          <p:nvPr/>
        </p:nvSpPr>
        <p:spPr>
          <a:xfrm>
            <a:off x="1320000" y="3025840"/>
            <a:ext cx="71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Cowork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Scheduled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New task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Create with claude</a:t>
            </a:r>
            <a:endParaRPr lang="en-US" sz="1300" dirty="0"/>
          </a:p>
        </p:txBody>
      </p:sp>
      <p:sp>
        <p:nvSpPr>
          <p:cNvPr id="15" name="Prompt Box"/>
          <p:cNvSpPr/>
          <p:nvPr/>
        </p:nvSpPr>
        <p:spPr>
          <a:xfrm>
            <a:off x="1320000" y="3465840"/>
            <a:ext cx="6900000" cy="54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過去 7 日のメールをチェックして必要なアクションを抽出</a:t>
            </a:r>
            <a:endParaRPr lang="en-US" sz="1200" dirty="0"/>
          </a:p>
        </p:txBody>
      </p:sp>
      <p:sp>
        <p:nvSpPr>
          <p:cNvPr id="16" name="Action"/>
          <p:cNvSpPr/>
          <p:nvPr/>
        </p:nvSpPr>
        <p:spPr>
          <a:xfrm>
            <a:off x="1320000" y="4145840"/>
            <a:ext cx="71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[キュー]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左上の [∨]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スケジュール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Browser Operation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ブラウザを操作する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Operate the browser from the Code tab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17 / 24</a:t>
            </a:r>
            <a:endParaRPr lang="en-US" sz="1000" dirty="0"/>
          </a:p>
        </p:txBody>
      </p:sp>
      <p:sp>
        <p:nvSpPr>
          <p:cNvPr id="7" name="Card 1"/>
          <p:cNvSpPr/>
          <p:nvPr/>
        </p:nvSpPr>
        <p:spPr>
          <a:xfrm>
            <a:off x="457200" y="1005840"/>
            <a:ext cx="8229600" cy="1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2"/>
          <p:cNvSpPr/>
          <p:nvPr/>
        </p:nvSpPr>
        <p:spPr>
          <a:xfrm>
            <a:off x="457200" y="2305840"/>
            <a:ext cx="8229600" cy="234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Number 1"/>
          <p:cNvSpPr/>
          <p:nvPr/>
        </p:nvSpPr>
        <p:spPr>
          <a:xfrm>
            <a:off x="685800" y="1125840"/>
            <a:ext cx="480000" cy="480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Number 2"/>
          <p:cNvSpPr/>
          <p:nvPr/>
        </p:nvSpPr>
        <p:spPr>
          <a:xfrm>
            <a:off x="685800" y="2425840"/>
            <a:ext cx="480000" cy="480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itle 1"/>
          <p:cNvSpPr/>
          <p:nvPr/>
        </p:nvSpPr>
        <p:spPr>
          <a:xfrm>
            <a:off x="1320000" y="11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ブラウザ操作を有効化</a:t>
            </a:r>
            <a:endParaRPr lang="en-US" sz="1600" dirty="0"/>
          </a:p>
        </p:txBody>
      </p:sp>
      <p:sp>
        <p:nvSpPr>
          <p:cNvPr id="12" name="Path 1"/>
          <p:cNvSpPr/>
          <p:nvPr/>
        </p:nvSpPr>
        <p:spPr>
          <a:xfrm>
            <a:off x="1320000" y="1585840"/>
            <a:ext cx="72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設定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一般（デスクトップアプリ）</a:t>
            </a:r>
            <a:r>
              <a:rPr lang="en-US" sz="13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3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すべてのブラウザアクションを許可</a:t>
            </a:r>
            <a:endParaRPr lang="en-US" sz="1300" dirty="0"/>
          </a:p>
        </p:txBody>
      </p:sp>
      <p:sp>
        <p:nvSpPr>
          <p:cNvPr id="13" name="Title 2"/>
          <p:cNvSpPr/>
          <p:nvPr/>
        </p:nvSpPr>
        <p:spPr>
          <a:xfrm>
            <a:off x="1320000" y="24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Code タブから入力</a:t>
            </a:r>
            <a:endParaRPr lang="en-US" sz="1600" dirty="0"/>
          </a:p>
        </p:txBody>
      </p:sp>
      <p:sp>
        <p:nvSpPr>
          <p:cNvPr id="15" name="Prompt Box A"/>
          <p:cNvSpPr/>
          <p:nvPr/>
        </p:nvSpPr>
        <p:spPr>
          <a:xfrm>
            <a:off x="1320000" y="2945840"/>
            <a:ext cx="7160000" cy="8200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X.com を開いて、以下の文章を投稿</a:t>
            </a:r>
            <a:endParaRPr lang="en-US" sz="1200" dirty="0"/>
          </a:p>
          <a:p>
            <a:pPr indent="0" marL="0">
              <a:buNone/>
            </a:pPr>
            <a:r>
              <a:rPr lang="en-US" sz="1100" kern="0" dirty="0">
                <a:solidFill>
                  <a:srgbClr val="47556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「ブラウザから投稿できるのにAPI経由だと投稿が有料なのは意味が解らない。AIで自動投稿ナウ」</a:t>
            </a:r>
            <a:endParaRPr lang="en-US" sz="1100" dirty="0"/>
          </a:p>
        </p:txBody>
      </p:sp>
      <p:sp>
        <p:nvSpPr>
          <p:cNvPr id="16" name="Prompt Box B"/>
          <p:cNvSpPr/>
          <p:nvPr/>
        </p:nvSpPr>
        <p:spPr>
          <a:xfrm>
            <a:off x="1320000" y="3865840"/>
            <a:ext cx="7160000" cy="620000"/>
          </a:xfrm>
          <a:prstGeom prst="roundRect">
            <a:avLst>
              <a:gd name="adj" fmla="val 13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ブラウザで Amazon のプライムユーザかどうか調べて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CLAUDE.md — 常設ルールを持たせる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Persistent instructions — user scope vs project scope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 / 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859536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74320" y="914400"/>
            <a:ext cx="91440" cy="960120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005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CLAUDE.md とは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1298448"/>
            <a:ext cx="8230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Code が起動時に自動で読み込む指示書。置き場所は次の 2 つ。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74320" y="2057400"/>
            <a:ext cx="4686240" cy="26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6A34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057400"/>
            <a:ext cx="4686240" cy="594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" y="205740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ユーザールート（全体）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502920" y="2750000"/>
            <a:ext cx="4229040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全プロジェクトに効く自分専用ルール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macOS: ~/.claude/CLAUDE.md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Windows: %USERPROFILE%\.claude\CLAUDE.md</a:t>
            </a:r>
            <a:endParaRPr lang="en-US" sz="1300" dirty="0"/>
          </a:p>
          <a:p>
            <a:pPr marL="342900" indent="0">
              <a:buNone/>
            </a:pPr>
            <a:r>
              <a:rPr lang="en-US" sz="11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%USERPROFILE% = ユーザーフォルダ（例 C:\Users\taro）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143440" y="2057400"/>
            <a:ext cx="3726240" cy="2620000"/>
          </a:xfrm>
          <a:prstGeom prst="rect">
            <a:avLst/>
          </a:prstGeom>
          <a:solidFill>
            <a:srgbClr val="FFFFFF"/>
          </a:solidFill>
          <a:ln w="25400">
            <a:solidFill>
              <a:srgbClr val="DC2626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143440" y="2057400"/>
            <a:ext cx="3726240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5372040" y="2057400"/>
            <a:ext cx="326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プロジェクトルート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5372040" y="2750000"/>
            <a:ext cx="3269040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◉"/>
            </a:pPr>
            <a:r>
              <a:rPr lang="en-US" sz="1300" dirty="0">
                <a:solidFill>
                  <a:srgbClr val="1A223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そのプロジェクトを開いた時だけ追加で効く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274320" y="48300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ユーザー＝自分の癖、プロジェクト＝その案件のルール。両方あれば重ねて適用される。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Email Automation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画像認識と処理をやってみる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Try image recognition — pick a folder, then prompt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 / 24</a:t>
            </a:r>
            <a:endParaRPr lang="en-US" sz="1000" dirty="0"/>
          </a:p>
        </p:txBody>
      </p:sp>
      <p:sp>
        <p:nvSpPr>
          <p:cNvPr id="7" name="Card 1"/>
          <p:cNvSpPr/>
          <p:nvPr/>
        </p:nvSpPr>
        <p:spPr>
          <a:xfrm>
            <a:off x="457200" y="10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2"/>
          <p:cNvSpPr/>
          <p:nvPr/>
        </p:nvSpPr>
        <p:spPr>
          <a:xfrm>
            <a:off x="457200" y="24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Number 1"/>
          <p:cNvSpPr/>
          <p:nvPr/>
        </p:nvSpPr>
        <p:spPr>
          <a:xfrm>
            <a:off x="685800" y="1125840"/>
            <a:ext cx="480000" cy="480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Number 2"/>
          <p:cNvSpPr/>
          <p:nvPr/>
        </p:nvSpPr>
        <p:spPr>
          <a:xfrm>
            <a:off x="685800" y="2505840"/>
            <a:ext cx="480000" cy="480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itle 1"/>
          <p:cNvSpPr/>
          <p:nvPr/>
        </p:nvSpPr>
        <p:spPr>
          <a:xfrm>
            <a:off x="1320000" y="11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フォルダーを選択</a:t>
            </a:r>
            <a:endParaRPr lang="en-US" sz="1600" dirty="0"/>
          </a:p>
        </p:txBody>
      </p:sp>
      <p:sp>
        <p:nvSpPr>
          <p:cNvPr id="12" name="Folder Value"/>
          <p:cNvSpPr/>
          <p:nvPr/>
        </p:nvSpPr>
        <p:spPr>
          <a:xfrm>
            <a:off x="1320000" y="1625840"/>
            <a:ext cx="69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Session1/h1</a:t>
            </a:r>
            <a:endParaRPr lang="en-US" sz="1500" dirty="0"/>
          </a:p>
        </p:txBody>
      </p:sp>
      <p:sp>
        <p:nvSpPr>
          <p:cNvPr id="13" name="Title 2"/>
          <p:cNvSpPr/>
          <p:nvPr/>
        </p:nvSpPr>
        <p:spPr>
          <a:xfrm>
            <a:off x="1320000" y="256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プロンプトを入力</a:t>
            </a:r>
            <a:endParaRPr lang="en-US" sz="1600" dirty="0"/>
          </a:p>
        </p:txBody>
      </p:sp>
      <p:sp>
        <p:nvSpPr>
          <p:cNvPr id="15" name="Prompt Box"/>
          <p:cNvSpPr/>
          <p:nvPr/>
        </p:nvSpPr>
        <p:spPr>
          <a:xfrm>
            <a:off x="1320000" y="2945840"/>
            <a:ext cx="6900000" cy="54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処理せよ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Email Automation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動画のカット編集と、字幕追加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Video cut &amp; subtitles — pick a folder, then prompt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22 / 24</a:t>
            </a:r>
            <a:endParaRPr lang="en-US" sz="1000" dirty="0"/>
          </a:p>
        </p:txBody>
      </p:sp>
      <p:sp>
        <p:nvSpPr>
          <p:cNvPr id="7" name="Card 1"/>
          <p:cNvSpPr/>
          <p:nvPr/>
        </p:nvSpPr>
        <p:spPr>
          <a:xfrm>
            <a:off x="457200" y="10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2"/>
          <p:cNvSpPr/>
          <p:nvPr/>
        </p:nvSpPr>
        <p:spPr>
          <a:xfrm>
            <a:off x="457200" y="24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Number 1"/>
          <p:cNvSpPr/>
          <p:nvPr/>
        </p:nvSpPr>
        <p:spPr>
          <a:xfrm>
            <a:off x="685800" y="1125840"/>
            <a:ext cx="480000" cy="480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Number 2"/>
          <p:cNvSpPr/>
          <p:nvPr/>
        </p:nvSpPr>
        <p:spPr>
          <a:xfrm>
            <a:off x="685800" y="2505840"/>
            <a:ext cx="480000" cy="480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itle 1"/>
          <p:cNvSpPr/>
          <p:nvPr/>
        </p:nvSpPr>
        <p:spPr>
          <a:xfrm>
            <a:off x="1320000" y="11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フォルダーを選択</a:t>
            </a:r>
            <a:endParaRPr lang="en-US" sz="1600" dirty="0"/>
          </a:p>
        </p:txBody>
      </p:sp>
      <p:sp>
        <p:nvSpPr>
          <p:cNvPr id="12" name="Folder Value"/>
          <p:cNvSpPr/>
          <p:nvPr/>
        </p:nvSpPr>
        <p:spPr>
          <a:xfrm>
            <a:off x="1320000" y="1625840"/>
            <a:ext cx="69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Session1/h2</a:t>
            </a:r>
            <a:endParaRPr lang="en-US" sz="1500" dirty="0"/>
          </a:p>
        </p:txBody>
      </p:sp>
      <p:sp>
        <p:nvSpPr>
          <p:cNvPr id="13" name="Title 2"/>
          <p:cNvSpPr/>
          <p:nvPr/>
        </p:nvSpPr>
        <p:spPr>
          <a:xfrm>
            <a:off x="1320000" y="256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プロンプトを入力</a:t>
            </a:r>
            <a:endParaRPr lang="en-US" sz="1600" dirty="0"/>
          </a:p>
        </p:txBody>
      </p:sp>
      <p:sp>
        <p:nvSpPr>
          <p:cNvPr id="15" name="Prompt Box"/>
          <p:cNvSpPr/>
          <p:nvPr/>
        </p:nvSpPr>
        <p:spPr>
          <a:xfrm>
            <a:off x="1320000" y="2945840"/>
            <a:ext cx="6900000" cy="54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処理せよ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Email Automation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アンケートを作る</a:t>
            </a:r>
            <a:endParaRPr lang="en-US" sz="2400" dirty="0"/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 a survey with a Chat artifact</a:t>
            </a:r>
            <a:endParaRPr lang="en-US" sz="1000" dirty="0"/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19 / 24</a:t>
            </a:r>
            <a:endParaRPr lang="en-US" sz="1000" dirty="0"/>
          </a:p>
        </p:txBody>
      </p:sp>
      <p:sp>
        <p:nvSpPr>
          <p:cNvPr id="7" name="Card 1"/>
          <p:cNvSpPr/>
          <p:nvPr/>
        </p:nvSpPr>
        <p:spPr>
          <a:xfrm>
            <a:off x="457200" y="10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Card 2"/>
          <p:cNvSpPr/>
          <p:nvPr/>
        </p:nvSpPr>
        <p:spPr>
          <a:xfrm>
            <a:off x="457200" y="2405840"/>
            <a:ext cx="8229600" cy="12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6000"/>
              </a:srgbClr>
            </a:outerShdw>
          </a:effectLst>
        </p:spPr>
      </p:sp>
      <p:sp>
        <p:nvSpPr>
          <p:cNvPr id="9" name="Number 1"/>
          <p:cNvSpPr/>
          <p:nvPr/>
        </p:nvSpPr>
        <p:spPr>
          <a:xfrm>
            <a:off x="685800" y="1125840"/>
            <a:ext cx="480000" cy="48000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Number 2"/>
          <p:cNvSpPr/>
          <p:nvPr/>
        </p:nvSpPr>
        <p:spPr>
          <a:xfrm>
            <a:off x="685800" y="2505840"/>
            <a:ext cx="480000" cy="4800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itle 1"/>
          <p:cNvSpPr/>
          <p:nvPr/>
        </p:nvSpPr>
        <p:spPr>
          <a:xfrm>
            <a:off x="1320000" y="118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アーティファクトを作る</a:t>
            </a:r>
            <a:endParaRPr lang="en-US" sz="1600" dirty="0"/>
          </a:p>
        </p:txBody>
      </p:sp>
      <p:sp>
        <p:nvSpPr>
          <p:cNvPr id="12" name="Path 1"/>
          <p:cNvSpPr/>
          <p:nvPr/>
        </p:nvSpPr>
        <p:spPr>
          <a:xfrm>
            <a:off x="1320000" y="1625840"/>
            <a:ext cx="69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Chat</a:t>
            </a:r>
            <a:r>
              <a:rPr lang="en-US" sz="11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1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アーティファクト</a:t>
            </a:r>
            <a:r>
              <a:rPr lang="en-US" sz="11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1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新規アーティファクト</a:t>
            </a:r>
            <a:r>
              <a:rPr lang="en-US" sz="11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1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チャットアーティファクト</a:t>
            </a:r>
            <a:r>
              <a:rPr lang="en-US" sz="1100" kern="0" dirty="0">
                <a:solidFill>
                  <a:srgbClr val="94A3B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→　</a:t>
            </a:r>
            <a:r>
              <a:rPr lang="en-US" sz="1100" b="1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クイズ・アンケート</a:t>
            </a:r>
            <a:endParaRPr lang="en-US" sz="1100" dirty="0"/>
          </a:p>
        </p:txBody>
      </p:sp>
      <p:sp>
        <p:nvSpPr>
          <p:cNvPr id="13" name="Title 2"/>
          <p:cNvSpPr/>
          <p:nvPr/>
        </p:nvSpPr>
        <p:spPr>
          <a:xfrm>
            <a:off x="1320000" y="2565840"/>
            <a:ext cx="69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プロンプトを入力</a:t>
            </a:r>
            <a:endParaRPr lang="en-US" sz="1600" dirty="0"/>
          </a:p>
        </p:txBody>
      </p:sp>
      <p:sp>
        <p:nvSpPr>
          <p:cNvPr id="15" name="Prompt Box"/>
          <p:cNvSpPr/>
          <p:nvPr/>
        </p:nvSpPr>
        <p:spPr>
          <a:xfrm>
            <a:off x="1320000" y="2945840"/>
            <a:ext cx="6900000" cy="540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wrap="square" lIns="160020" tIns="0" rIns="160020" bIns="0" rtlCol="0" anchor="ctr"/>
          <a:lstStyle/>
          <a:p>
            <a:pPr indent="0" marL="0">
              <a:buNone/>
            </a:pPr>
            <a:r>
              <a:rPr lang="en-US" sz="1100" b="1" kern="0" dirty="0">
                <a:solidFill>
                  <a:srgbClr val="14B8A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 xml:space="preserve">入力 </a:t>
            </a:r>
            <a:r>
              <a:rPr lang="en-US" sz="12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AIセミナーに関する感想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Use Claude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3" name="Title"/>
          <p:cNvSpPr/>
          <p:nvPr/>
        </p:nvSpPr>
        <p:spPr>
          <a:xfrm>
            <a:off x="0" y="1150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おわりに</a:t>
            </a:r>
            <a:endParaRPr lang="en-US" sz="5400" dirty="0"/>
          </a:p>
        </p:txBody>
      </p:sp>
      <p:sp>
        <p:nvSpPr>
          <p:cNvPr id="4" name="Body"/>
          <p:cNvSpPr/>
          <p:nvPr/>
        </p:nvSpPr>
        <p:spPr>
          <a:xfrm>
            <a:off x="457200" y="2600000"/>
            <a:ext cx="8229600" cy="13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19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今回は、導入から触りまで</a:t>
            </a:r>
            <a:endParaRPr lang="en-US" sz="19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500" kern="0" dirty="0">
                <a:solidFill>
                  <a:srgbClr val="CADCFC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AIは体系的に使ったり、多段階で使ったりすることでその性能を発揮するが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より高度な使い方は、またの機会に。</a:t>
            </a:r>
            <a:endParaRPr lang="en-US" sz="1500" dirty="0"/>
          </a:p>
        </p:txBody>
      </p:sp>
      <p:sp>
        <p:nvSpPr>
          <p:cNvPr id="6" name="Page Number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 / 24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Use Claude">
    <p:bg>
      <p:bgPr>
        <a:solidFill>
          <a:srgbClr val="0F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Bar"/>
          <p:cNvSpPr/>
          <p:nvPr/>
        </p:nvSpPr>
        <p:spPr>
          <a:xfrm>
            <a:off x="-914400" y="4114800"/>
            <a:ext cx="109728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7" name="Eyebrow"/>
          <p:cNvSpPr/>
          <p:nvPr/>
        </p:nvSpPr>
        <p:spPr>
          <a:xfrm>
            <a:off x="0" y="1480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講師紹介</a:t>
            </a:r>
            <a:endParaRPr lang="en-US" sz="1300" dirty="0"/>
          </a:p>
        </p:txBody>
      </p:sp>
      <p:sp>
        <p:nvSpPr>
          <p:cNvPr id="3" name="Title"/>
          <p:cNvSpPr/>
          <p:nvPr/>
        </p:nvSpPr>
        <p:spPr>
          <a:xfrm>
            <a:off x="0" y="19500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窪田博昭</a:t>
            </a:r>
            <a:endParaRPr lang="en-US" sz="5400" dirty="0"/>
          </a:p>
        </p:txBody>
      </p:sp>
      <p:sp>
        <p:nvSpPr>
          <p:cNvPr id="4" name="Subtitle"/>
          <p:cNvSpPr/>
          <p:nvPr/>
        </p:nvSpPr>
        <p:spPr>
          <a:xfrm>
            <a:off x="0" y="31500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spc="5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株式会社craft. 副社長・CTO</a:t>
            </a:r>
            <a:endParaRPr lang="en-US" sz="1700" dirty="0"/>
          </a:p>
        </p:txBody>
      </p:sp>
      <p:sp>
        <p:nvSpPr>
          <p:cNvPr id="5" name="Tagline"/>
          <p:cNvSpPr/>
          <p:nvPr/>
        </p:nvSpPr>
        <p:spPr>
          <a:xfrm>
            <a:off x="0" y="4297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ヤフー・楽天・クックパット などでテックリード</a:t>
            </a:r>
            <a:endParaRPr lang="en-US" sz="1300" dirty="0"/>
          </a:p>
        </p:txBody>
      </p:sp>
      <p:sp>
        <p:nvSpPr>
          <p:cNvPr id="6" name="Page Number"/>
          <p:cNvSpPr/>
          <p:nvPr/>
        </p:nvSpPr>
        <p:spPr>
          <a:xfrm>
            <a:off x="7680960" y="47548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 / 24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aft Intro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16"/>
            <a:ext cx="9144000" cy="4972068"/>
          </a:xfrm>
          <a:prstGeom prst="rect">
            <a:avLst/>
          </a:prstGeom>
        </p:spPr>
      </p:pic>
      <p:sp>
        <p:nvSpPr>
          <p:cNvPr id="3" name="Page Number"/>
          <p:cNvSpPr/>
          <p:nvPr/>
        </p:nvSpPr>
        <p:spPr>
          <a:xfrm>
            <a:off x="8077200" y="4830000"/>
            <a:ext cx="85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 / 24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aft Intro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37" y="0"/>
            <a:ext cx="9072725" cy="5143500"/>
          </a:xfrm>
          <a:prstGeom prst="rect">
            <a:avLst/>
          </a:prstGeom>
        </p:spPr>
      </p:pic>
      <p:sp>
        <p:nvSpPr>
          <p:cNvPr id="3" name="Page Number"/>
          <p:cNvSpPr/>
          <p:nvPr/>
        </p:nvSpPr>
        <p:spPr>
          <a:xfrm>
            <a:off x="8077200" y="4830000"/>
            <a:ext cx="85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 / 24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aft Intro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865"/>
            <a:ext cx="9144000" cy="5069770"/>
          </a:xfrm>
          <a:prstGeom prst="rect">
            <a:avLst/>
          </a:prstGeom>
        </p:spPr>
      </p:pic>
      <p:sp>
        <p:nvSpPr>
          <p:cNvPr id="3" name="Page Number"/>
          <p:cNvSpPr/>
          <p:nvPr/>
        </p:nvSpPr>
        <p:spPr>
          <a:xfrm>
            <a:off x="8077200" y="4830000"/>
            <a:ext cx="85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0F1B3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 / 24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ynergy Diff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r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3" name="Accent Tab"/>
          <p:cNvSpPr/>
          <p:nvPr/>
        </p:nvSpPr>
        <p:spPr>
          <a:xfrm>
            <a:off x="457200" y="164592"/>
            <a:ext cx="73152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685800" y="91440"/>
            <a:ext cx="7700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相乗効果の例：文字起こし＋画像認識＋AI推測</a:t>
            </a:r>
          </a:p>
        </p:txBody>
      </p:sp>
      <p:sp>
        <p:nvSpPr>
          <p:cNvPr id="5" name="Subtitle"/>
          <p:cNvSpPr/>
          <p:nvPr/>
        </p:nvSpPr>
        <p:spPr>
          <a:xfrm>
            <a:off x="685800" y="475488"/>
            <a:ext cx="770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9FB2D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ASR の誤変換を、テロップ＝画像認識 と 文脈＝AI推測 で補正</a:t>
            </a:r>
          </a:p>
        </p:txBody>
      </p:sp>
      <p:sp>
        <p:nvSpPr>
          <p:cNvPr id="6" name="Page Number"/>
          <p:cNvSpPr/>
          <p:nvPr/>
        </p:nvSpPr>
        <p:spPr>
          <a:xfrm>
            <a:off x="7680960" y="2743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D9775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23 / 24</a:t>
            </a:r>
          </a:p>
        </p:txBody>
      </p:sp>
      <p:pic>
        <p:nvPicPr>
          <p:cNvPr id="7" name="Dif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60000"/>
            <a:ext cx="8595360" cy="217972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Caption"/>
          <p:cNvSpPr/>
          <p:nvPr/>
        </p:nvSpPr>
        <p:spPr>
          <a:xfrm>
            <a:off x="274320" y="3950000"/>
            <a:ext cx="85953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kern="0" dirty="0">
                <a:solidFill>
                  <a:srgbClr val="5A6B8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文字起こし（Whisper）　＋　画像認識（テロップ・字幕）　＋　AI推測（文脈）　→　高精度な字幕へ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MCP入門</dc:title>
  <dc:subject>PptxGenJS Presentation</dc:subject>
  <dc:creator>PptxGenJS</dc:creator>
  <cp:lastModifiedBy>PptxGenJS</cp:lastModifiedBy>
  <cp:revision>1</cp:revision>
  <dcterms:created xsi:type="dcterms:W3CDTF">2026-06-04T06:41:11Z</dcterms:created>
  <dcterms:modified xsi:type="dcterms:W3CDTF">2026-06-04T06:41:11Z</dcterms:modified>
</cp:coreProperties>
</file>