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4" r:id="rId15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7" r:id="rId18"/>
    <p:sldId id="268" r:id="rId19"/>
    <p:sldId id="269" r:id="rId20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85800"/>
            <a:ext cx="1737360" cy="1737360"/>
          </a:xfrm>
          <a:prstGeom prst="ellipse">
            <a:avLst/>
          </a:prstGeom>
          <a:solidFill>
            <a:srgbClr val="D97757">
              <a:alpha val="20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14400"/>
            <a:ext cx="1280160" cy="12801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430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Anthropic の AI アシスタント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考えるパートナーとしての AI 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のプランと機能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Plans &amp; features at a glance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B5C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1700784" cy="7772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個人・お試し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利用量: 限定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Sonnet / Haiku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✕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コネクタ: 1個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39112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005840"/>
            <a:ext cx="170078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39112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個人・標準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39112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$20 /月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313432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利用量: 標準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Opus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Projects / Research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03904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03904" y="1005840"/>
            <a:ext cx="1700784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03904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個人・ヘビー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03904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$100〜200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078224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41064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利用量: Pro の 5x / 20x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Opus 優先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早期アクセス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68696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68696" y="1005840"/>
            <a:ext cx="1700784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68696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5〜150 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68696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 /席・月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5843016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5856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組織共有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Opus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SSO / 集中管理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33488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33488" y="1005840"/>
            <a:ext cx="1700784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33488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全社規模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33488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要問合せ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7607808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0648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カスタム上限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高度モデル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SCIM / 監査 / HIPAA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料金は2026年6月時点・公式表記。利用量は相対比較。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 AI プロダクト比較 — 何ができるか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 / Codex / Claude / Cowork / Claude Code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0EA5E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1554480" cy="4572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960120"/>
            <a:ext cx="1444752" cy="4572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960120"/>
            <a:ext cx="1444752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14447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71616" y="960120"/>
            <a:ext cx="1444752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16368" y="960120"/>
            <a:ext cx="1444752" cy="4572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141732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1732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主な用途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汎用チャット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82112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コード開発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汎用チャット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業務代行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16368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2088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コード開発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182880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18288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画像を作る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37360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GPT-Image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82112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27832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26864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71616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16368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62088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82880" y="224028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22402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ローカルFS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37360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82112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27832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626864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72584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071616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17336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516368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62088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82880" y="265176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265176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コード開発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182112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27832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626864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72584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071616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516368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62088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182880" y="306324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" y="30632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指示書 (前置)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737360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783080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GPTs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182112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27832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26864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72584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Projects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071616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7336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516368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62088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82880" y="347472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56032" y="347472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Skills (拡張)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737360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83080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3182112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27832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626864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72584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071616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17336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516368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62088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82880" y="388620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6032" y="38862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定期実行 ローカル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737360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783080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3182112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27832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4626864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72584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071616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17336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7516368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562088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/schedule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82880" y="429768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6032" y="42976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定期実行 クラウド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737360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783080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Tasks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3182112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27832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Automations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626864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72584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6071616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117336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7516368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562088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Routines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182880" y="475488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△=限定的／2026年6月時点・代表的な観点のみ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21D4B4"/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85800"/>
            <a:ext cx="1737360" cy="1737360"/>
          </a:xfrm>
          <a:prstGeom prst="ellipse">
            <a:avLst/>
          </a:prstGeom>
          <a:solidFill>
            <a:srgbClr val="21D4B4">
              <a:alpha val="20000"/>
            </a:srgbClr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14400"/>
            <a:ext cx="1280160" cy="1280160"/>
          </a:xfrm>
          <a:prstGeom prst="ellipse">
            <a:avLst/>
          </a:prstGeom>
          <a:solidFill>
            <a:srgbClr val="21D4B4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430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21D4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Model Context Protocol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AI とアプリをつなぐ共通プロトコル 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21D4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MCP以前 — 三者三様の困りごと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Who is hurting, and why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E74C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115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57884"/>
            <a:ext cx="393192" cy="3931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106984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AI開発者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44752" y="134416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 / Anthropic 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44752" y="1600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繋ぎたいアプリ毎に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専用の連携を書く必要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2677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267712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51917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65476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44752" y="23774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アプリ開発者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44752" y="26517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 / Slack …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444752" y="290779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AI毎に仕様が違い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同じ機能を作り直す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65760" y="3575304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3575304"/>
            <a:ext cx="91440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3826764"/>
            <a:ext cx="685800" cy="6858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973068"/>
            <a:ext cx="393192" cy="3931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36850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444752" y="395935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（あなた）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444752" y="42153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使いたい組合せが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実装されていない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663440" y="960120"/>
            <a:ext cx="4160520" cy="3922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663440" y="10972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組合せ表  (AI × アプリ)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446520" y="148132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162" y="1591970"/>
            <a:ext cx="281635" cy="28163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17920" y="2002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159752" y="148132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394" y="1591970"/>
            <a:ext cx="281635" cy="28163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31152" y="2002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872984" y="148132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626" y="1591970"/>
            <a:ext cx="281635" cy="28163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44384" y="2002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937760" y="23317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402" y="2442362"/>
            <a:ext cx="281635" cy="28163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48640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6446520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FFF7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2441448"/>
            <a:ext cx="283464" cy="283464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7159752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0" y="2441448"/>
            <a:ext cx="283464" cy="283464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7872984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2712" y="2441448"/>
            <a:ext cx="283464" cy="283464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4937760" y="30449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8402" y="3155594"/>
            <a:ext cx="281635" cy="28163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486400" y="30449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6446520" y="3044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6248" y="3154680"/>
            <a:ext cx="283464" cy="28346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7159752" y="3044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FFF7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480" y="3154680"/>
            <a:ext cx="283464" cy="283464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7872984" y="3044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2712" y="3154680"/>
            <a:ext cx="283464" cy="283464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4937760" y="3758184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48402" y="3868826"/>
            <a:ext cx="281635" cy="281635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5486400" y="37581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カレンダー</a:t>
            </a:r>
            <a:endParaRPr lang="en-US" sz="1000" dirty="0"/>
          </a:p>
        </p:txBody>
      </p:sp>
      <p:sp>
        <p:nvSpPr>
          <p:cNvPr id="60" name="Shape 43"/>
          <p:cNvSpPr/>
          <p:nvPr/>
        </p:nvSpPr>
        <p:spPr>
          <a:xfrm>
            <a:off x="6446520" y="37581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6248" y="3867912"/>
            <a:ext cx="283464" cy="283464"/>
          </a:xfrm>
          <a:prstGeom prst="rect">
            <a:avLst/>
          </a:prstGeom>
        </p:spPr>
      </p:pic>
      <p:sp>
        <p:nvSpPr>
          <p:cNvPr id="62" name="Shape 44"/>
          <p:cNvSpPr/>
          <p:nvPr/>
        </p:nvSpPr>
        <p:spPr>
          <a:xfrm>
            <a:off x="7159752" y="37581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69480" y="3867912"/>
            <a:ext cx="283464" cy="283464"/>
          </a:xfrm>
          <a:prstGeom prst="rect">
            <a:avLst/>
          </a:prstGeom>
        </p:spPr>
      </p:pic>
      <p:sp>
        <p:nvSpPr>
          <p:cNvPr id="64" name="Shape 45"/>
          <p:cNvSpPr/>
          <p:nvPr/>
        </p:nvSpPr>
        <p:spPr>
          <a:xfrm>
            <a:off x="7872984" y="37581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FFF7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2712" y="3867912"/>
            <a:ext cx="283464" cy="283464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4663440" y="45171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対応する組合せだけ ✓  ／  残りは未対応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21D4B4"/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MCP導入 — 全員が楽になる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One protocol, everyone wins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21D4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115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57884"/>
            <a:ext cx="393192" cy="3931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106984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AI開発者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44752" y="134416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 / Anthropic 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44752" y="1600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MCPに1度対応すれば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全アプリと繋がる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2677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267712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51917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65476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44752" y="23774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アプリ開発者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44752" y="26517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 / Slack …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444752" y="290779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MCPサーバーを1つで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全AIから呼ばれる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65760" y="3575304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3575304"/>
            <a:ext cx="91440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3826764"/>
            <a:ext cx="685800" cy="6858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973068"/>
            <a:ext cx="393192" cy="3931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36850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444752" y="395935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（あなた）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444752" y="42153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好きな組合せを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自由に使える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663440" y="960120"/>
            <a:ext cx="4160520" cy="3922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663440" y="10972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 がハブとして仲介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112764" y="2043684"/>
            <a:ext cx="1261872" cy="1261872"/>
          </a:xfrm>
          <a:prstGeom prst="ellipse">
            <a:avLst/>
          </a:prstGeom>
          <a:solidFill>
            <a:srgbClr val="21D4B4">
              <a:alpha val="25000"/>
            </a:srgbClr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95833" y="1993965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 flipV="1">
            <a:off x="5532120" y="2674620"/>
            <a:ext cx="70866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 flipV="1">
            <a:off x="5495833" y="2915444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 flipV="1">
            <a:off x="7185211" y="1993965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246620" y="2674620"/>
            <a:ext cx="70866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185211" y="2915444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240780" y="2171700"/>
            <a:ext cx="1005840" cy="100584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2318004"/>
            <a:ext cx="530352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40780" y="27020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21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700" dirty="0"/>
          </a:p>
        </p:txBody>
      </p:sp>
      <p:sp>
        <p:nvSpPr>
          <p:cNvPr id="40" name="Shape 34"/>
          <p:cNvSpPr/>
          <p:nvPr/>
        </p:nvSpPr>
        <p:spPr>
          <a:xfrm>
            <a:off x="4937760" y="15544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519" y="1685239"/>
            <a:ext cx="332842" cy="33284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709160" y="21671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937760" y="23774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519" y="2508199"/>
            <a:ext cx="332842" cy="33284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470916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937760" y="3200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519" y="3331159"/>
            <a:ext cx="332842" cy="33284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709160" y="3813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7955280" y="15544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039" y="1685239"/>
            <a:ext cx="332842" cy="33284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726680" y="21671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7955280" y="23774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6039" y="2508199"/>
            <a:ext cx="332842" cy="33284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72668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7955280" y="3200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6039" y="3331159"/>
            <a:ext cx="332842" cy="33284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726680" y="3813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カレンダー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4663440" y="45171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+ 3 = 6 個の対応で、全 9 通りをカバー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85800"/>
            <a:ext cx="1737360" cy="1737360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14400"/>
            <a:ext cx="1280160" cy="128016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430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コードと文書の共有プラットフォーム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リポジトリで管理、公開／非公開を選択 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とリポジトリ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Repositories, public vs private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91440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GitHub とは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プログラムや文書を 保管・共有する クラウドサービス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91440" cy="9601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リポジトリ (repository)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2984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 1 つ分の「箱」。例: アプリ 1 つ = 1 リポジトリ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206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420624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762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24028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2057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 （公開）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29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誰でも閲覧・コピーできる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OSS・ポートフォリオ・公開資料向き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検索エンジンにも掲載される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例: React, VS Code 本体, Linux カーネル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2057400"/>
            <a:ext cx="4206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2057400"/>
            <a:ext cx="420624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46320" y="21762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40280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03520" y="2057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 （非公開）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489204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招待されたメンバーだけ閲覧可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業務コード・社内文書・個人ノート向き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プランでも作成可（無制限）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84632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例: 社内プロダクトのソース、機密設計書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プラン: </a:t>
            </a:r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Free $0 </a:t>
            </a:r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/ </a:t>
            </a:r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Team $4 </a:t>
            </a:r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/ </a:t>
            </a:r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Enterprise $21 </a:t>
            </a:r>
            <a:pPr algn="ctr" indent="0" marL="0">
              <a:buNone/>
            </a:pPr>
            <a:r>
              <a:rPr lang="en-US" sz="12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(1 ユーザー・月)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でも Public / Private リポジトリは無制限に作成可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Timelin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Accent Tab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タイムライン</a:t>
            </a:r>
            <a:endParaRPr lang="en-US" sz="2400" dirty="0"/>
          </a:p>
        </p:txBody>
      </p:sp>
      <p:sp>
        <p:nvSpPr>
          <p:cNvPr id="5" name="Subtitle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Today's agenda — about 2 hours</a:t>
            </a:r>
            <a:endParaRPr lang="en-US" sz="1000" dirty="0"/>
          </a:p>
        </p:txBody>
      </p:sp>
      <p:sp>
        <p:nvSpPr>
          <p:cNvPr id="6" name="Page Number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 / 14</a:t>
            </a:r>
            <a:endParaRPr lang="en-US" sz="1000" dirty="0"/>
          </a:p>
        </p:txBody>
      </p:sp>
      <p:sp>
        <p:nvSpPr>
          <p:cNvPr id="7" name="Timeline Line"/>
          <p:cNvSpPr/>
          <p:nvPr/>
        </p:nvSpPr>
        <p:spPr>
          <a:xfrm>
            <a:off x="981712" y="1460000"/>
            <a:ext cx="36576" cy="276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Card 1"/>
          <p:cNvSpPr/>
          <p:nvPr/>
        </p:nvSpPr>
        <p:spPr>
          <a:xfrm>
            <a:off x="1500000" y="110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Card 2"/>
          <p:cNvSpPr/>
          <p:nvPr/>
        </p:nvSpPr>
        <p:spPr>
          <a:xfrm>
            <a:off x="1500000" y="202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Card 3"/>
          <p:cNvSpPr/>
          <p:nvPr/>
        </p:nvSpPr>
        <p:spPr>
          <a:xfrm>
            <a:off x="1500000" y="294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Card 4"/>
          <p:cNvSpPr/>
          <p:nvPr/>
        </p:nvSpPr>
        <p:spPr>
          <a:xfrm>
            <a:off x="1500000" y="386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Node 1"/>
          <p:cNvSpPr/>
          <p:nvPr/>
        </p:nvSpPr>
        <p:spPr>
          <a:xfrm>
            <a:off x="720000" y="1180000"/>
            <a:ext cx="560000" cy="560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Node 2"/>
          <p:cNvSpPr/>
          <p:nvPr/>
        </p:nvSpPr>
        <p:spPr>
          <a:xfrm>
            <a:off x="720000" y="2100000"/>
            <a:ext cx="560000" cy="5600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Node 3"/>
          <p:cNvSpPr/>
          <p:nvPr/>
        </p:nvSpPr>
        <p:spPr>
          <a:xfrm>
            <a:off x="720000" y="3020000"/>
            <a:ext cx="560000" cy="5600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Node 4"/>
          <p:cNvSpPr/>
          <p:nvPr/>
        </p:nvSpPr>
        <p:spPr>
          <a:xfrm>
            <a:off x="720000" y="3940000"/>
            <a:ext cx="560000" cy="560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Badge 1"/>
          <p:cNvSpPr/>
          <p:nvPr/>
        </p:nvSpPr>
        <p:spPr>
          <a:xfrm>
            <a:off x="6960000" y="124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分</a:t>
            </a:r>
            <a:endParaRPr lang="en-US" sz="1400" dirty="0"/>
          </a:p>
        </p:txBody>
      </p:sp>
      <p:sp>
        <p:nvSpPr>
          <p:cNvPr id="17" name="Badge 2"/>
          <p:cNvSpPr/>
          <p:nvPr/>
        </p:nvSpPr>
        <p:spPr>
          <a:xfrm>
            <a:off x="6960000" y="216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分</a:t>
            </a:r>
            <a:endParaRPr lang="en-US" sz="1400" dirty="0"/>
          </a:p>
        </p:txBody>
      </p:sp>
      <p:sp>
        <p:nvSpPr>
          <p:cNvPr id="18" name="Badge 3"/>
          <p:cNvSpPr/>
          <p:nvPr/>
        </p:nvSpPr>
        <p:spPr>
          <a:xfrm>
            <a:off x="6960000" y="308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 分</a:t>
            </a:r>
            <a:endParaRPr lang="en-US" sz="1400" dirty="0"/>
          </a:p>
        </p:txBody>
      </p:sp>
      <p:sp>
        <p:nvSpPr>
          <p:cNvPr id="19" name="Badge 4"/>
          <p:cNvSpPr/>
          <p:nvPr/>
        </p:nvSpPr>
        <p:spPr>
          <a:xfrm>
            <a:off x="6960000" y="400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60 分</a:t>
            </a:r>
            <a:endParaRPr lang="en-US" sz="1400" dirty="0"/>
          </a:p>
        </p:txBody>
      </p:sp>
      <p:sp>
        <p:nvSpPr>
          <p:cNvPr id="20" name="Activity 1"/>
          <p:cNvSpPr/>
          <p:nvPr/>
        </p:nvSpPr>
        <p:spPr>
          <a:xfrm>
            <a:off x="1700000" y="110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座学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 — 基礎の座学</a:t>
            </a:r>
            <a:endParaRPr lang="en-US" sz="1000" dirty="0"/>
          </a:p>
        </p:txBody>
      </p:sp>
      <p:sp>
        <p:nvSpPr>
          <p:cNvPr id="21" name="Activity 2"/>
          <p:cNvSpPr/>
          <p:nvPr/>
        </p:nvSpPr>
        <p:spPr>
          <a:xfrm>
            <a:off x="1700000" y="202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実演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 — 実際に動かして見せる</a:t>
            </a:r>
            <a:endParaRPr lang="en-US" sz="1000" dirty="0"/>
          </a:p>
        </p:txBody>
      </p:sp>
      <p:sp>
        <p:nvSpPr>
          <p:cNvPr id="22" name="Activity 3"/>
          <p:cNvSpPr/>
          <p:nvPr/>
        </p:nvSpPr>
        <p:spPr>
          <a:xfrm>
            <a:off x="1700000" y="294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デモ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Demo — 応用例のデモンストレーション</a:t>
            </a:r>
            <a:endParaRPr lang="en-US" sz="1000" dirty="0"/>
          </a:p>
        </p:txBody>
      </p:sp>
      <p:sp>
        <p:nvSpPr>
          <p:cNvPr id="23" name="Activity 4"/>
          <p:cNvSpPr/>
          <p:nvPr/>
        </p:nvSpPr>
        <p:spPr>
          <a:xfrm>
            <a:off x="1700000" y="386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ハンズオン ＋ 質問タイム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Hands-on &amp; Q&amp;A — 各自で操作・質疑応答</a:t>
            </a:r>
            <a:endParaRPr lang="en-US" sz="1000" dirty="0"/>
          </a:p>
        </p:txBody>
      </p:sp>
      <p:sp>
        <p:nvSpPr>
          <p:cNvPr id="24" name="Footnote"/>
          <p:cNvSpPr/>
          <p:nvPr/>
        </p:nvSpPr>
        <p:spPr>
          <a:xfrm>
            <a:off x="4500000" y="4760000"/>
            <a:ext cx="395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合計 2 時間（120 分）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over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Eyebrow"/>
          <p:cNvSpPr/>
          <p:nvPr/>
        </p:nvSpPr>
        <p:spPr>
          <a:xfrm>
            <a:off x="0" y="900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第 1 回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0" y="1650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勉強会</a:t>
            </a:r>
            <a:endParaRPr lang="en-US" sz="7000" dirty="0"/>
          </a:p>
        </p:txBody>
      </p:sp>
      <p:sp>
        <p:nvSpPr>
          <p:cNvPr id="5" name="Date"/>
          <p:cNvSpPr/>
          <p:nvPr/>
        </p:nvSpPr>
        <p:spPr>
          <a:xfrm>
            <a:off x="0" y="2900000"/>
            <a:ext cx="9144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D97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18</a:t>
            </a:r>
            <a:endParaRPr lang="en-US" sz="3200" dirty="0"/>
          </a:p>
        </p:txBody>
      </p:sp>
      <p:sp>
        <p:nvSpPr>
          <p:cNvPr id="6" name="Tagline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spc="3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・ MCP ・ GitHub</a:t>
            </a:r>
            <a:endParaRPr lang="en-US" sz="1300" dirty="0"/>
          </a:p>
        </p:txBody>
      </p:sp>
      <p:sp>
        <p:nvSpPr>
          <p:cNvPr id="7" name="Page Number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Use Claude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0" y="1950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を使う</a:t>
            </a:r>
            <a:endParaRPr lang="en-US" sz="5400" dirty="0"/>
          </a:p>
        </p:txBody>
      </p:sp>
      <p:sp>
        <p:nvSpPr>
          <p:cNvPr id="4" name="Subtitle"/>
          <p:cNvSpPr/>
          <p:nvPr/>
        </p:nvSpPr>
        <p:spPr>
          <a:xfrm>
            <a:off x="0" y="3150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 ・ Cowork ・ Code</a:t>
            </a:r>
            <a:endParaRPr lang="en-US" sz="1700" dirty="0"/>
          </a:p>
        </p:txBody>
      </p:sp>
      <p:sp>
        <p:nvSpPr>
          <p:cNvPr id="5" name="Tagline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目的に合わせて 3 つの使い方 —</a:t>
            </a:r>
            <a:endParaRPr lang="en-US" sz="1300" dirty="0"/>
          </a:p>
        </p:txBody>
      </p:sp>
      <p:sp>
        <p:nvSpPr>
          <p:cNvPr id="6" name="Page Number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hat Cowork Cod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Accent Tab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の 3 つの使い方</a:t>
            </a:r>
            <a:endParaRPr lang="en-US" sz="2400" dirty="0"/>
          </a:p>
        </p:txBody>
      </p:sp>
      <p:sp>
        <p:nvSpPr>
          <p:cNvPr id="5" name="Subtitle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 / Cowork / Code</a:t>
            </a:r>
            <a:endParaRPr lang="en-US" sz="1000" dirty="0"/>
          </a:p>
        </p:txBody>
      </p:sp>
      <p:sp>
        <p:nvSpPr>
          <p:cNvPr id="6" name="Page Number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14</a:t>
            </a:r>
            <a:endParaRPr lang="en-US" sz="1000" dirty="0"/>
          </a:p>
        </p:txBody>
      </p:sp>
      <p:sp>
        <p:nvSpPr>
          <p:cNvPr id="7" name="Card Chat"/>
          <p:cNvSpPr/>
          <p:nvPr/>
        </p:nvSpPr>
        <p:spPr>
          <a:xfrm>
            <a:off x="457200" y="1005840"/>
            <a:ext cx="256032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Card Cowork"/>
          <p:cNvSpPr/>
          <p:nvPr/>
        </p:nvSpPr>
        <p:spPr>
          <a:xfrm>
            <a:off x="3291840" y="1005840"/>
            <a:ext cx="256032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Card Code"/>
          <p:cNvSpPr/>
          <p:nvPr/>
        </p:nvSpPr>
        <p:spPr>
          <a:xfrm>
            <a:off x="6126480" y="1005840"/>
            <a:ext cx="256032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Band Chat"/>
          <p:cNvSpPr/>
          <p:nvPr/>
        </p:nvSpPr>
        <p:spPr>
          <a:xfrm>
            <a:off x="457200" y="1005840"/>
            <a:ext cx="2560320" cy="620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</a:t>
            </a:r>
            <a:endParaRPr lang="en-US" sz="2000" dirty="0"/>
          </a:p>
        </p:txBody>
      </p:sp>
      <p:sp>
        <p:nvSpPr>
          <p:cNvPr id="11" name="Band Cowork"/>
          <p:cNvSpPr/>
          <p:nvPr/>
        </p:nvSpPr>
        <p:spPr>
          <a:xfrm>
            <a:off x="3291840" y="1005840"/>
            <a:ext cx="2560320" cy="62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</a:t>
            </a:r>
            <a:endParaRPr lang="en-US" sz="2000" dirty="0"/>
          </a:p>
        </p:txBody>
      </p:sp>
      <p:sp>
        <p:nvSpPr>
          <p:cNvPr id="12" name="Band Code"/>
          <p:cNvSpPr/>
          <p:nvPr/>
        </p:nvSpPr>
        <p:spPr>
          <a:xfrm>
            <a:off x="6126480" y="1005840"/>
            <a:ext cx="2560320" cy="62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2000" dirty="0"/>
          </a:p>
        </p:txBody>
      </p:sp>
      <p:sp>
        <p:nvSpPr>
          <p:cNvPr id="13" name="Body Chat"/>
          <p:cNvSpPr/>
          <p:nvPr/>
        </p:nvSpPr>
        <p:spPr>
          <a:xfrm>
            <a:off x="637200" y="1765840"/>
            <a:ext cx="220032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通常チャット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質問・相談・文章作成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一定の目的・文脈をもったチャットの集合。AI の過去記憶も分離して保持される。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Artifact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ウェブサイトやツールの作成・公開など</a:t>
            </a:r>
          </a:p>
        </p:txBody>
      </p:sp>
      <p:sp>
        <p:nvSpPr>
          <p:cNvPr id="14" name="Body Cowork"/>
          <p:cNvSpPr/>
          <p:nvPr/>
        </p:nvSpPr>
        <p:spPr>
          <a:xfrm>
            <a:off x="3471840" y="1765840"/>
            <a:ext cx="220032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スケジュール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定期的に自動で実行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ローカルファイル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PC を使った作業全般</a:t>
            </a:r>
          </a:p>
        </p:txBody>
      </p:sp>
      <p:sp>
        <p:nvSpPr>
          <p:cNvPr id="15" name="Body Code"/>
          <p:cNvSpPr/>
          <p:nvPr/>
        </p:nvSpPr>
        <p:spPr>
          <a:xfrm>
            <a:off x="6306480" y="1765840"/>
            <a:ext cx="220032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PC 設定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ソフトウェアインストール・操作など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プログラミング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コードの作成・修正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アプリ作成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アプリ開発まで</a:t>
            </a:r>
          </a:p>
        </p:txBody>
      </p:sp>
      <p:sp>
        <p:nvSpPr>
          <p:cNvPr id="16" name="Footnote"/>
          <p:cNvSpPr/>
          <p:nvPr/>
        </p:nvSpPr>
        <p:spPr>
          <a:xfrm>
            <a:off x="457200" y="47900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目的に合わせて使い分けられる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Email Automat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Accent Tab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メールチェック自動化</a:t>
            </a:r>
            <a:endParaRPr lang="en-US" sz="2400" dirty="0"/>
          </a:p>
        </p:txBody>
      </p:sp>
      <p:sp>
        <p:nvSpPr>
          <p:cNvPr id="5" name="Subtitle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Automate email triage — MCP &amp; Schedule</a:t>
            </a:r>
            <a:endParaRPr lang="en-US" sz="1000" dirty="0"/>
          </a:p>
        </p:txBody>
      </p:sp>
      <p:sp>
        <p:nvSpPr>
          <p:cNvPr id="6" name="Page Number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 / 14</a:t>
            </a:r>
            <a:endParaRPr lang="en-US" sz="1000" dirty="0"/>
          </a:p>
        </p:txBody>
      </p:sp>
      <p:sp>
        <p:nvSpPr>
          <p:cNvPr id="7" name="Card 1"/>
          <p:cNvSpPr/>
          <p:nvPr/>
        </p:nvSpPr>
        <p:spPr>
          <a:xfrm>
            <a:off x="457200" y="1005840"/>
            <a:ext cx="8229600" cy="1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Card 2"/>
          <p:cNvSpPr/>
          <p:nvPr/>
        </p:nvSpPr>
        <p:spPr>
          <a:xfrm>
            <a:off x="457200" y="2405840"/>
            <a:ext cx="82296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Number 1"/>
          <p:cNvSpPr/>
          <p:nvPr/>
        </p:nvSpPr>
        <p:spPr>
          <a:xfrm>
            <a:off x="685800" y="1125840"/>
            <a:ext cx="480000" cy="4800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Number 2"/>
          <p:cNvSpPr/>
          <p:nvPr/>
        </p:nvSpPr>
        <p:spPr>
          <a:xfrm>
            <a:off x="685800" y="2505840"/>
            <a:ext cx="480000" cy="480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itle 1"/>
          <p:cNvSpPr/>
          <p:nvPr/>
        </p:nvSpPr>
        <p:spPr>
          <a:xfrm>
            <a:off x="1320000" y="1185840"/>
            <a:ext cx="69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 で Gmail とつなぐ</a:t>
            </a:r>
            <a:endParaRPr lang="en-US" sz="1600" dirty="0"/>
          </a:p>
        </p:txBody>
      </p:sp>
      <p:sp>
        <p:nvSpPr>
          <p:cNvPr id="12" name="Path 1"/>
          <p:cNvSpPr/>
          <p:nvPr/>
        </p:nvSpPr>
        <p:spPr>
          <a:xfrm>
            <a:off x="1320000" y="1625840"/>
            <a:ext cx="6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Customize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コネクタ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</a:t>
            </a:r>
            <a:endParaRPr lang="en-US" sz="1300" dirty="0"/>
          </a:p>
        </p:txBody>
      </p:sp>
      <p:sp>
        <p:nvSpPr>
          <p:cNvPr id="13" name="Title 2"/>
          <p:cNvSpPr/>
          <p:nvPr/>
        </p:nvSpPr>
        <p:spPr>
          <a:xfrm>
            <a:off x="1320000" y="2565840"/>
            <a:ext cx="69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スケジュールを作る</a:t>
            </a:r>
            <a:endParaRPr lang="en-US" sz="1600" dirty="0"/>
          </a:p>
        </p:txBody>
      </p:sp>
      <p:sp>
        <p:nvSpPr>
          <p:cNvPr id="14" name="Path 2"/>
          <p:cNvSpPr/>
          <p:nvPr/>
        </p:nvSpPr>
        <p:spPr>
          <a:xfrm>
            <a:off x="1320000" y="3025840"/>
            <a:ext cx="7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Cowork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Scheduled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New task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Create with claude</a:t>
            </a:r>
            <a:endParaRPr lang="en-US" sz="1300" dirty="0"/>
          </a:p>
        </p:txBody>
      </p:sp>
      <p:sp>
        <p:nvSpPr>
          <p:cNvPr id="15" name="Prompt Box"/>
          <p:cNvSpPr/>
          <p:nvPr/>
        </p:nvSpPr>
        <p:spPr>
          <a:xfrm>
            <a:off x="1320000" y="3465840"/>
            <a:ext cx="6900000" cy="540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60020" tIns="0" rIns="160020" bIns="0" rtlCol="0" anchor="ctr"/>
          <a:lstStyle/>
          <a:p>
            <a:pPr indent="0" marL="0">
              <a:buNone/>
            </a:pPr>
            <a:r>
              <a:rPr lang="en-US" sz="1100" b="1" kern="0" dirty="0">
                <a:solidFill>
                  <a:srgbClr val="14B8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入力 </a:t>
            </a:r>
            <a:r>
              <a:rPr lang="en-US" sz="1200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過去 7 日のメールをチェックして必要なアクションを抽出</a:t>
            </a:r>
            <a:endParaRPr lang="en-US" sz="1200" dirty="0"/>
          </a:p>
        </p:txBody>
      </p:sp>
      <p:sp>
        <p:nvSpPr>
          <p:cNvPr id="16" name="Action"/>
          <p:cNvSpPr/>
          <p:nvPr/>
        </p:nvSpPr>
        <p:spPr>
          <a:xfrm>
            <a:off x="1320000" y="4145840"/>
            <a:ext cx="7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[キュー]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左上の [∨]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スケジュール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Browser Operat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Accent Tab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ブラウザを操作する</a:t>
            </a:r>
            <a:endParaRPr lang="en-US" sz="2400" dirty="0"/>
          </a:p>
        </p:txBody>
      </p:sp>
      <p:sp>
        <p:nvSpPr>
          <p:cNvPr id="5" name="Subtitle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Operate the browser from the Code tab</a:t>
            </a:r>
            <a:endParaRPr lang="en-US" sz="1000" dirty="0"/>
          </a:p>
        </p:txBody>
      </p:sp>
      <p:sp>
        <p:nvSpPr>
          <p:cNvPr id="6" name="Page Number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 / 14</a:t>
            </a:r>
            <a:endParaRPr lang="en-US" sz="1000" dirty="0"/>
          </a:p>
        </p:txBody>
      </p:sp>
      <p:sp>
        <p:nvSpPr>
          <p:cNvPr id="7" name="Card 1"/>
          <p:cNvSpPr/>
          <p:nvPr/>
        </p:nvSpPr>
        <p:spPr>
          <a:xfrm>
            <a:off x="457200" y="1005840"/>
            <a:ext cx="82296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Card 2"/>
          <p:cNvSpPr/>
          <p:nvPr/>
        </p:nvSpPr>
        <p:spPr>
          <a:xfrm>
            <a:off x="457200" y="2305840"/>
            <a:ext cx="8229600" cy="2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Number 1"/>
          <p:cNvSpPr/>
          <p:nvPr/>
        </p:nvSpPr>
        <p:spPr>
          <a:xfrm>
            <a:off x="685800" y="1125840"/>
            <a:ext cx="480000" cy="4800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Number 2"/>
          <p:cNvSpPr/>
          <p:nvPr/>
        </p:nvSpPr>
        <p:spPr>
          <a:xfrm>
            <a:off x="685800" y="2425840"/>
            <a:ext cx="480000" cy="480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itle 1"/>
          <p:cNvSpPr/>
          <p:nvPr/>
        </p:nvSpPr>
        <p:spPr>
          <a:xfrm>
            <a:off x="1320000" y="1185840"/>
            <a:ext cx="69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ブラウザ操作を有効化</a:t>
            </a:r>
            <a:endParaRPr lang="en-US" sz="1600" dirty="0"/>
          </a:p>
        </p:txBody>
      </p:sp>
      <p:sp>
        <p:nvSpPr>
          <p:cNvPr id="12" name="Path 1"/>
          <p:cNvSpPr/>
          <p:nvPr/>
        </p:nvSpPr>
        <p:spPr>
          <a:xfrm>
            <a:off x="1320000" y="1585840"/>
            <a:ext cx="7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一般（デスクトップアプリ）</a:t>
            </a:r>
            <a:r>
              <a:rPr lang="en-US" sz="1300" kern="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→　</a:t>
            </a: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すべてのブラウザアクションを許可</a:t>
            </a:r>
            <a:endParaRPr lang="en-US" sz="1300" dirty="0"/>
          </a:p>
        </p:txBody>
      </p:sp>
      <p:sp>
        <p:nvSpPr>
          <p:cNvPr id="13" name="Title 2"/>
          <p:cNvSpPr/>
          <p:nvPr/>
        </p:nvSpPr>
        <p:spPr>
          <a:xfrm>
            <a:off x="1320000" y="2485840"/>
            <a:ext cx="69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Code タブから入力</a:t>
            </a:r>
            <a:endParaRPr lang="en-US" sz="1600" dirty="0"/>
          </a:p>
        </p:txBody>
      </p:sp>
      <p:sp>
        <p:nvSpPr>
          <p:cNvPr id="15" name="Prompt Box A"/>
          <p:cNvSpPr/>
          <p:nvPr/>
        </p:nvSpPr>
        <p:spPr>
          <a:xfrm>
            <a:off x="1320000" y="2945840"/>
            <a:ext cx="7160000" cy="820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60020" tIns="0" rIns="160020" bIns="0" rtlCol="0" anchor="ctr"/>
          <a:lstStyle/>
          <a:p>
            <a:pPr indent="0" marL="0">
              <a:buNone/>
            </a:pPr>
            <a:r>
              <a:rPr lang="en-US" sz="1100" b="1" kern="0" dirty="0">
                <a:solidFill>
                  <a:srgbClr val="14B8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入力 </a:t>
            </a:r>
            <a:r>
              <a:rPr lang="en-US" sz="12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X.com を開いて、以下の文章を投稿</a:t>
            </a:r>
            <a:endParaRPr lang="en-US" sz="1200" dirty="0"/>
          </a:p>
          <a:p>
            <a:pPr indent="0" marL="0">
              <a:buNone/>
            </a:pPr>
            <a:r>
              <a:rPr lang="en-US" sz="1100" kern="0" dirty="0">
                <a:solidFill>
                  <a:srgbClr val="4755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「ブラウザから投稿できるのにAPI経由だと投稿が有料なのは意味が解らない。AIで自動投稿ナウ」</a:t>
            </a:r>
            <a:endParaRPr lang="en-US" sz="1100" dirty="0"/>
          </a:p>
        </p:txBody>
      </p:sp>
      <p:sp>
        <p:nvSpPr>
          <p:cNvPr id="16" name="Prompt Box B"/>
          <p:cNvSpPr/>
          <p:nvPr/>
        </p:nvSpPr>
        <p:spPr>
          <a:xfrm>
            <a:off x="1320000" y="3865840"/>
            <a:ext cx="7160000" cy="620000"/>
          </a:xfrm>
          <a:prstGeom prst="roundRect">
            <a:avLst>
              <a:gd name="adj" fmla="val 1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60020" tIns="0" rIns="160020" bIns="0" rtlCol="0" anchor="ctr"/>
          <a:lstStyle/>
          <a:p>
            <a:pPr indent="0" marL="0">
              <a:buNone/>
            </a:pPr>
            <a:r>
              <a:rPr lang="en-US" sz="1100" b="1" kern="0" dirty="0">
                <a:solidFill>
                  <a:srgbClr val="14B8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入力 </a:t>
            </a:r>
            <a:r>
              <a:rPr lang="en-US" sz="12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ブラウザで Amazon のプライムユーザかどうか調べて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MCP入門</dc:title>
  <dc:subject>PptxGenJS Presentation</dc:subject>
  <dc:creator>PptxGenJS</dc:creator>
  <cp:lastModifiedBy>PptxGenJS</cp:lastModifiedBy>
  <cp:revision>1</cp:revision>
  <dcterms:created xsi:type="dcterms:W3CDTF">2026-06-04T06:41:11Z</dcterms:created>
  <dcterms:modified xsi:type="dcterms:W3CDTF">2026-06-04T06:41:11Z</dcterms:modified>
</cp:coreProperties>
</file>