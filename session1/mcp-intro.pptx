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4" r:id="rId1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7"/>
    <p:sldId id="267" r:id="rId18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D97757">
              <a:alpha val="20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Anthropic の AI アシスタント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考えるパートナーとしての AI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のプランと機能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Plans &amp; features at a glance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B5C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1700784" cy="777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個人・お試し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限定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Sonnet / Haiku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✕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コネクタ: 1個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39112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39112" y="1005840"/>
            <a:ext cx="1700784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39112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個人・標準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39112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 /月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313432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標準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Projects / Research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03904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03904" y="1005840"/>
            <a:ext cx="1700784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03904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個人・ヘビー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$100〜200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078224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利用量: Pro の 5x / 20x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 優先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早期アクセス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68696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68696" y="1005840"/>
            <a:ext cx="1700784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68696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5〜150 人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68696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 /席・月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5843016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組織共有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Opus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SSO / 集中管理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33488" y="1005840"/>
            <a:ext cx="17007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33488" y="1005840"/>
            <a:ext cx="1700784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07899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33488" y="146304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全社規模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3348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要問合せ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7607808" y="2514600"/>
            <a:ext cx="11521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2651760"/>
            <a:ext cx="142646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カスタム上限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高度モデル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Code: ✓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SCIM / 監査 / HIPAA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料金は2026年6月時点・公式表記。利用量は相対比較。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主要 AI プロダクト比較 — 何ができるか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/ Codex / Claude / Cowork / Claude Code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0EA5E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1554480" cy="4572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60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960120"/>
            <a:ext cx="1444752" cy="457200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960120"/>
            <a:ext cx="144475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4447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71616" y="960120"/>
            <a:ext cx="1444752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16368" y="960120"/>
            <a:ext cx="1444752" cy="4572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96012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" y="141732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41732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主な用途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汎用チャット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82112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汎用チャット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業務代行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16368" y="141732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62088" y="14173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182880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" y="18288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画像を作る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737360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83080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GPT-Image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82112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27832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26864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071616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516368" y="182880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62088" y="18288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82880" y="224028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" y="22402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ローカルFS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737360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82112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27832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626864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2584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071616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17336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7516368" y="224028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62088" y="22402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82880" y="265176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6032" y="265176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コード開発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83080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3182112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27832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626864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071616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17336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516368" y="265176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62088" y="265176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82880" y="306324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6032" y="306324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指示書 (前置)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737360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783080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GPTs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182112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27832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26864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72584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Projects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071616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17336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516368" y="306324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62088" y="306324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" y="347472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6032" y="347472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Skills (拡張)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1737360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83080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3182112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27832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626864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72584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071616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17336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516368" y="347472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62088" y="347472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82880" y="388620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" y="38862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定期実行 ローカル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737360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783080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3182112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27832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4626864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72584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071616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17336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7516368" y="3886200"/>
            <a:ext cx="144475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562088" y="388620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/schedule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82880" y="4297680"/>
            <a:ext cx="1554480" cy="4114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6032" y="429768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定期実行 クラウド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737360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783080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Tasks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3182112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27832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Automations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626864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72584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6071616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117336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–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7516368" y="4297680"/>
            <a:ext cx="1444752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562088" y="4297680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Routines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82880" y="475488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△=限定的／2026年6月時点・代表的な観点のみ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21D4B4">
              <a:alpha val="20000"/>
            </a:srgbClr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Model Context Protocol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AI とアプリをつなぐ共通プロトコル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MCP以前 — 三者三様の困りごと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Who is hurting, and 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E74C3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115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57884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0698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AI開発者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44752" y="134416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44752" y="1600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繋ぎたいアプリ毎に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専用の連携を書く必要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267712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5191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65476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44752" y="23774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アプリ開発者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44752" y="26517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 / Slack …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44752" y="290779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AI毎に仕様が違い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同じ機能を作り直す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65760" y="357530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575304"/>
            <a:ext cx="91440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3826764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73068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6850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44752" y="39593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（あなた）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444752" y="42153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使いたい組合せが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実装されていない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663440" y="960120"/>
            <a:ext cx="4160520" cy="392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6634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組合せ表  (AI × アプリ)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446520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1591970"/>
            <a:ext cx="281635" cy="28163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217920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159752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394" y="1591970"/>
            <a:ext cx="281635" cy="28163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31152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872984" y="148132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626" y="1591970"/>
            <a:ext cx="281635" cy="28163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44384" y="2002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4937760" y="23317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402" y="2442362"/>
            <a:ext cx="281635" cy="28163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8640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644652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2441448"/>
            <a:ext cx="283464" cy="283464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7159752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9480" y="2441448"/>
            <a:ext cx="283464" cy="283464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7872984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2712" y="2441448"/>
            <a:ext cx="283464" cy="283464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4937760" y="30449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8402" y="3155594"/>
            <a:ext cx="281635" cy="281635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486400" y="3044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6446520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48" y="3154680"/>
            <a:ext cx="283464" cy="28346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7159752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480" y="3154680"/>
            <a:ext cx="283464" cy="283464"/>
          </a:xfrm>
          <a:prstGeom prst="rect">
            <a:avLst/>
          </a:prstGeom>
        </p:spPr>
      </p:pic>
      <p:sp>
        <p:nvSpPr>
          <p:cNvPr id="55" name="Shape 40"/>
          <p:cNvSpPr/>
          <p:nvPr/>
        </p:nvSpPr>
        <p:spPr>
          <a:xfrm>
            <a:off x="7872984" y="30449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2712" y="3154680"/>
            <a:ext cx="283464" cy="283464"/>
          </a:xfrm>
          <a:prstGeom prst="rect">
            <a:avLst/>
          </a:prstGeom>
        </p:spPr>
      </p:pic>
      <p:sp>
        <p:nvSpPr>
          <p:cNvPr id="57" name="Shape 41"/>
          <p:cNvSpPr/>
          <p:nvPr/>
        </p:nvSpPr>
        <p:spPr>
          <a:xfrm>
            <a:off x="4937760" y="375818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8402" y="3868826"/>
            <a:ext cx="281635" cy="281635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5486400" y="37581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カレンダー</a:t>
            </a:r>
            <a:endParaRPr lang="en-US" sz="1000" dirty="0"/>
          </a:p>
        </p:txBody>
      </p:sp>
      <p:sp>
        <p:nvSpPr>
          <p:cNvPr id="60" name="Shape 43"/>
          <p:cNvSpPr/>
          <p:nvPr/>
        </p:nvSpPr>
        <p:spPr>
          <a:xfrm>
            <a:off x="6446520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6248" y="3867912"/>
            <a:ext cx="283464" cy="283464"/>
          </a:xfrm>
          <a:prstGeom prst="rect">
            <a:avLst/>
          </a:prstGeom>
        </p:spPr>
      </p:pic>
      <p:sp>
        <p:nvSpPr>
          <p:cNvPr id="62" name="Shape 44"/>
          <p:cNvSpPr/>
          <p:nvPr/>
        </p:nvSpPr>
        <p:spPr>
          <a:xfrm>
            <a:off x="7159752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FE4E0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69480" y="3867912"/>
            <a:ext cx="283464" cy="283464"/>
          </a:xfrm>
          <a:prstGeom prst="rect">
            <a:avLst/>
          </a:prstGeom>
        </p:spPr>
      </p:pic>
      <p:sp>
        <p:nvSpPr>
          <p:cNvPr id="64" name="Shape 45"/>
          <p:cNvSpPr/>
          <p:nvPr/>
        </p:nvSpPr>
        <p:spPr>
          <a:xfrm>
            <a:off x="7872984" y="37581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CFFF7"/>
          </a:solidFill>
          <a:ln w="12700">
            <a:solidFill>
              <a:srgbClr val="21D4B4"/>
            </a:solidFill>
            <a:prstDash val="solid"/>
          </a:ln>
        </p:spPr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2712" y="3867912"/>
            <a:ext cx="283464" cy="283464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4663440" y="4517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対応する組合せだけ ✓  ／  残りは未対応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21D4B4"/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MCP導入 — 全員が楽になる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One protocol, everyone wins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21D4B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91440" cy="1188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11580"/>
            <a:ext cx="685800" cy="6858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357884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4752" y="106984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AI開発者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44752" y="134416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…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44752" y="1600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MCPに1度対応すれば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全アプリと繋がる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267712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51917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65476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44752" y="237744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アプリ開発者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444752" y="265176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 / Slack …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44752" y="2907792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MCPサーバーを1つで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全AIから呼ばれる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65760" y="3575304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575304"/>
            <a:ext cx="91440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3826764"/>
            <a:ext cx="685800" cy="6858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973068"/>
            <a:ext cx="393192" cy="3931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44752" y="368503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444752" y="395935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（あなた）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444752" y="42153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好きな組合せを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自由に使える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4663440" y="960120"/>
            <a:ext cx="4160520" cy="392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663440" y="10972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MCP がハブとして仲介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112764" y="2043684"/>
            <a:ext cx="1261872" cy="1261872"/>
          </a:xfrm>
          <a:prstGeom prst="ellipse">
            <a:avLst/>
          </a:prstGeom>
          <a:solidFill>
            <a:srgbClr val="21D4B4">
              <a:alpha val="25000"/>
            </a:srgbClr>
          </a:solidFill>
          <a:ln w="12700">
            <a:solidFill>
              <a:srgbClr val="21D4B4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495833" y="1993965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 flipV="1">
            <a:off x="5532120" y="2674620"/>
            <a:ext cx="70866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 flipV="1">
            <a:off x="5495833" y="2915444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 flipV="1">
            <a:off x="7185211" y="1993965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246620" y="2674620"/>
            <a:ext cx="708660" cy="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185211" y="2915444"/>
            <a:ext cx="806356" cy="439830"/>
          </a:xfrm>
          <a:prstGeom prst="line">
            <a:avLst/>
          </a:prstGeom>
          <a:noFill/>
          <a:ln w="38100">
            <a:solidFill>
              <a:srgbClr val="21D4B4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240780" y="2171700"/>
            <a:ext cx="1005840" cy="1005840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524" y="2318004"/>
            <a:ext cx="530352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40780" y="27020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21D4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4937760" y="15544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519" y="1685239"/>
            <a:ext cx="332842" cy="33284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709160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93776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519" y="2508199"/>
            <a:ext cx="332842" cy="33284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470916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937760" y="3200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519" y="3331159"/>
            <a:ext cx="332842" cy="33284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709160" y="3813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7955280" y="155448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6039" y="1685239"/>
            <a:ext cx="332842" cy="332842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7726680" y="21671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Gmail</a:t>
            </a:r>
            <a:endParaRPr lang="en-US" sz="900" dirty="0"/>
          </a:p>
        </p:txBody>
      </p:sp>
      <p:sp>
        <p:nvSpPr>
          <p:cNvPr id="52" name="Shape 42"/>
          <p:cNvSpPr/>
          <p:nvPr/>
        </p:nvSpPr>
        <p:spPr>
          <a:xfrm>
            <a:off x="7955280" y="237744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6039" y="2508199"/>
            <a:ext cx="332842" cy="332842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72668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Slack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7955280" y="3200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86039" y="3331159"/>
            <a:ext cx="332842" cy="33284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726680" y="3813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カレンダー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4663440" y="4517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+ 3 = 6 個の対応で、全 9 通りをカバー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03320" y="685800"/>
            <a:ext cx="1737360" cy="173736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14400"/>
            <a:ext cx="1280160" cy="128016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1430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06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spc="10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0" y="3749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コードと文書の共有プラットフォーム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リポジトリで管理、公開／非公開を選択 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とリポジトリ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Repositories, public vs private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91440" cy="9601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GitHub とは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プログラムや文書を 保管・共有する クラウドサービス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91440" cy="96012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リポジトリ (repository)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 1 つ分の「箱」。例: アプリ 1 つ = 1 リポジトリ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206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420624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762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24028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2057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 （公開）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29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誰でも閲覧・コピーできる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OSS・ポートフォリオ・公開資料向き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検索エンジンにも掲載される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例: React, VS Code 本体, Linux カーネル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2057400"/>
            <a:ext cx="4206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2057400"/>
            <a:ext cx="420624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46320" y="21762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24028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03520" y="20574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 （非公開）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489204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招待されたメンバーだけ閲覧可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業務コード・社内文書・個人ノート向き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◉"/>
            </a:pPr>
            <a:r>
              <a:rPr lang="en-US" sz="13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プランでも作成可（無制限）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84632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例: 社内プロダクトのソース、機密設計書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プラン: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Free $0 </a:t>
            </a:r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/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Team $4 </a:t>
            </a:r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/ </a:t>
            </a:r>
            <a:pPr algn="ctr"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 xml:space="preserve">Enterprise $21 </a:t>
            </a:r>
            <a:pPr algn="ctr" indent="0" marL="0">
              <a:buNone/>
            </a:pPr>
            <a:r>
              <a:rPr lang="en-US" sz="12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(1 ユーザー・月)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8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でも Public / Private リポジトリは無制限に作成可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Timelin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タイムライン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Today's agenda — about 2 hours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 / 12</a:t>
            </a:r>
            <a:endParaRPr lang="en-US" sz="1000" dirty="0"/>
          </a:p>
        </p:txBody>
      </p:sp>
      <p:sp>
        <p:nvSpPr>
          <p:cNvPr id="7" name="Timeline Line"/>
          <p:cNvSpPr/>
          <p:nvPr/>
        </p:nvSpPr>
        <p:spPr>
          <a:xfrm>
            <a:off x="981712" y="1460000"/>
            <a:ext cx="36576" cy="27600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Card 1"/>
          <p:cNvSpPr/>
          <p:nvPr/>
        </p:nvSpPr>
        <p:spPr>
          <a:xfrm>
            <a:off x="1500000" y="110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Card 2"/>
          <p:cNvSpPr/>
          <p:nvPr/>
        </p:nvSpPr>
        <p:spPr>
          <a:xfrm>
            <a:off x="1500000" y="202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Card 3"/>
          <p:cNvSpPr/>
          <p:nvPr/>
        </p:nvSpPr>
        <p:spPr>
          <a:xfrm>
            <a:off x="1500000" y="294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Card 4"/>
          <p:cNvSpPr/>
          <p:nvPr/>
        </p:nvSpPr>
        <p:spPr>
          <a:xfrm>
            <a:off x="1500000" y="3860000"/>
            <a:ext cx="69582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Node 1"/>
          <p:cNvSpPr/>
          <p:nvPr/>
        </p:nvSpPr>
        <p:spPr>
          <a:xfrm>
            <a:off x="720000" y="1180000"/>
            <a:ext cx="560000" cy="560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Node 2"/>
          <p:cNvSpPr/>
          <p:nvPr/>
        </p:nvSpPr>
        <p:spPr>
          <a:xfrm>
            <a:off x="720000" y="2100000"/>
            <a:ext cx="560000" cy="5600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Node 3"/>
          <p:cNvSpPr/>
          <p:nvPr/>
        </p:nvSpPr>
        <p:spPr>
          <a:xfrm>
            <a:off x="720000" y="3020000"/>
            <a:ext cx="560000" cy="5600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Node 4"/>
          <p:cNvSpPr/>
          <p:nvPr/>
        </p:nvSpPr>
        <p:spPr>
          <a:xfrm>
            <a:off x="720000" y="3940000"/>
            <a:ext cx="560000" cy="5600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Badge 1"/>
          <p:cNvSpPr/>
          <p:nvPr/>
        </p:nvSpPr>
        <p:spPr>
          <a:xfrm>
            <a:off x="6960000" y="124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分</a:t>
            </a:r>
            <a:endParaRPr lang="en-US" sz="1400" dirty="0"/>
          </a:p>
        </p:txBody>
      </p:sp>
      <p:sp>
        <p:nvSpPr>
          <p:cNvPr id="17" name="Badge 2"/>
          <p:cNvSpPr/>
          <p:nvPr/>
        </p:nvSpPr>
        <p:spPr>
          <a:xfrm>
            <a:off x="6960000" y="216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分</a:t>
            </a:r>
            <a:endParaRPr lang="en-US" sz="1400" dirty="0"/>
          </a:p>
        </p:txBody>
      </p:sp>
      <p:sp>
        <p:nvSpPr>
          <p:cNvPr id="18" name="Badge 3"/>
          <p:cNvSpPr/>
          <p:nvPr/>
        </p:nvSpPr>
        <p:spPr>
          <a:xfrm>
            <a:off x="6960000" y="308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 分</a:t>
            </a:r>
            <a:endParaRPr lang="en-US" sz="1400" dirty="0"/>
          </a:p>
        </p:txBody>
      </p:sp>
      <p:sp>
        <p:nvSpPr>
          <p:cNvPr id="19" name="Badge 4"/>
          <p:cNvSpPr/>
          <p:nvPr/>
        </p:nvSpPr>
        <p:spPr>
          <a:xfrm>
            <a:off x="6960000" y="4000000"/>
            <a:ext cx="1280000" cy="440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60 分</a:t>
            </a:r>
            <a:endParaRPr lang="en-US" sz="1400" dirty="0"/>
          </a:p>
        </p:txBody>
      </p:sp>
      <p:sp>
        <p:nvSpPr>
          <p:cNvPr id="20" name="Activity 1"/>
          <p:cNvSpPr/>
          <p:nvPr/>
        </p:nvSpPr>
        <p:spPr>
          <a:xfrm>
            <a:off x="1700000" y="110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座学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Lecture — 基礎の座学</a:t>
            </a:r>
            <a:endParaRPr lang="en-US" sz="1000" dirty="0"/>
          </a:p>
        </p:txBody>
      </p:sp>
      <p:sp>
        <p:nvSpPr>
          <p:cNvPr id="21" name="Activity 2"/>
          <p:cNvSpPr/>
          <p:nvPr/>
        </p:nvSpPr>
        <p:spPr>
          <a:xfrm>
            <a:off x="1700000" y="202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実演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Live demo — 実際に動かして見せる</a:t>
            </a:r>
            <a:endParaRPr lang="en-US" sz="1000" dirty="0"/>
          </a:p>
        </p:txBody>
      </p:sp>
      <p:sp>
        <p:nvSpPr>
          <p:cNvPr id="22" name="Activity 3"/>
          <p:cNvSpPr/>
          <p:nvPr/>
        </p:nvSpPr>
        <p:spPr>
          <a:xfrm>
            <a:off x="1700000" y="294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デモ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Demo — 応用例のデモンストレーション</a:t>
            </a:r>
            <a:endParaRPr lang="en-US" sz="1000" dirty="0"/>
          </a:p>
        </p:txBody>
      </p:sp>
      <p:sp>
        <p:nvSpPr>
          <p:cNvPr id="23" name="Activity 4"/>
          <p:cNvSpPr/>
          <p:nvPr/>
        </p:nvSpPr>
        <p:spPr>
          <a:xfrm>
            <a:off x="1700000" y="3860000"/>
            <a:ext cx="506000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ハンズオン ＋ 質問タイム</a:t>
            </a:r>
          </a:p>
          <a:p>
            <a:pPr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Hands-on &amp; Q&amp;A — 各自で操作・質疑応答</a:t>
            </a:r>
            <a:endParaRPr lang="en-US" sz="1000" dirty="0"/>
          </a:p>
        </p:txBody>
      </p:sp>
      <p:sp>
        <p:nvSpPr>
          <p:cNvPr id="24" name="Footnote"/>
          <p:cNvSpPr/>
          <p:nvPr/>
        </p:nvSpPr>
        <p:spPr>
          <a:xfrm>
            <a:off x="4500000" y="4760000"/>
            <a:ext cx="3958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合計 2 時間（120 分）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over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Eyebrow"/>
          <p:cNvSpPr/>
          <p:nvPr/>
        </p:nvSpPr>
        <p:spPr>
          <a:xfrm>
            <a:off x="0" y="900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6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第 1 回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0" y="1650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勉強会</a:t>
            </a:r>
            <a:endParaRPr lang="en-US" sz="7000" dirty="0"/>
          </a:p>
        </p:txBody>
      </p:sp>
      <p:sp>
        <p:nvSpPr>
          <p:cNvPr id="5" name="Date"/>
          <p:cNvSpPr/>
          <p:nvPr/>
        </p:nvSpPr>
        <p:spPr>
          <a:xfrm>
            <a:off x="0" y="2900000"/>
            <a:ext cx="9144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D97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18</a:t>
            </a:r>
            <a:endParaRPr lang="en-US" sz="3200" dirty="0"/>
          </a:p>
        </p:txBody>
      </p:sp>
      <p:sp>
        <p:nvSpPr>
          <p:cNvPr id="6" name="Tagline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3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・ MCP ・ GitHub</a:t>
            </a:r>
            <a:endParaRPr lang="en-US" sz="1300" dirty="0"/>
          </a:p>
        </p:txBody>
      </p:sp>
      <p:sp>
        <p:nvSpPr>
          <p:cNvPr id="7" name="Page Number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Use Claude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-914400" y="4114800"/>
            <a:ext cx="1097280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0" y="1950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を使う</a:t>
            </a:r>
            <a:endParaRPr lang="en-US" sz="5400" dirty="0"/>
          </a:p>
        </p:txBody>
      </p:sp>
      <p:sp>
        <p:nvSpPr>
          <p:cNvPr id="4" name="Subtitle"/>
          <p:cNvSpPr/>
          <p:nvPr/>
        </p:nvSpPr>
        <p:spPr>
          <a:xfrm>
            <a:off x="0" y="3150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5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 ・ Cowork ・ Code</a:t>
            </a:r>
            <a:endParaRPr lang="en-US" sz="1700" dirty="0"/>
          </a:p>
        </p:txBody>
      </p:sp>
      <p:sp>
        <p:nvSpPr>
          <p:cNvPr id="5" name="Tagline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— 目的に合わせて 3 つの使い方 —</a:t>
            </a:r>
            <a:endParaRPr lang="en-US" sz="1300" dirty="0"/>
          </a:p>
        </p:txBody>
      </p:sp>
      <p:sp>
        <p:nvSpPr>
          <p:cNvPr id="6" name="Page Number"/>
          <p:cNvSpPr/>
          <p:nvPr/>
        </p:nvSpPr>
        <p:spPr>
          <a:xfrm>
            <a:off x="7680960" y="47548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hat Cowork Code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" name="Accent Tab"/>
          <p:cNvSpPr/>
          <p:nvPr/>
        </p:nvSpPr>
        <p:spPr>
          <a:xfrm>
            <a:off x="457200" y="164592"/>
            <a:ext cx="73152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685800" y="91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の 3 つの使い方</a:t>
            </a:r>
            <a:endParaRPr lang="en-US" sz="2400" dirty="0"/>
          </a:p>
        </p:txBody>
      </p:sp>
      <p:sp>
        <p:nvSpPr>
          <p:cNvPr id="5" name="Subtitle"/>
          <p:cNvSpPr/>
          <p:nvPr/>
        </p:nvSpPr>
        <p:spPr>
          <a:xfrm>
            <a:off x="685800" y="47548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FB2D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 / Cowork / Code</a:t>
            </a:r>
            <a:endParaRPr lang="en-US" sz="1000" dirty="0"/>
          </a:p>
        </p:txBody>
      </p:sp>
      <p:sp>
        <p:nvSpPr>
          <p:cNvPr id="6" name="Page Number"/>
          <p:cNvSpPr/>
          <p:nvPr/>
        </p:nvSpPr>
        <p:spPr>
          <a:xfrm>
            <a:off x="7680960" y="274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D977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12</a:t>
            </a:r>
            <a:endParaRPr lang="en-US" sz="1000" dirty="0"/>
          </a:p>
        </p:txBody>
      </p:sp>
      <p:sp>
        <p:nvSpPr>
          <p:cNvPr id="7" name="Card Chat"/>
          <p:cNvSpPr/>
          <p:nvPr/>
        </p:nvSpPr>
        <p:spPr>
          <a:xfrm>
            <a:off x="45720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Card Cowork"/>
          <p:cNvSpPr/>
          <p:nvPr/>
        </p:nvSpPr>
        <p:spPr>
          <a:xfrm>
            <a:off x="329184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Card Code"/>
          <p:cNvSpPr/>
          <p:nvPr/>
        </p:nvSpPr>
        <p:spPr>
          <a:xfrm>
            <a:off x="6126480" y="1005840"/>
            <a:ext cx="2560320" cy="3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Band Chat"/>
          <p:cNvSpPr/>
          <p:nvPr/>
        </p:nvSpPr>
        <p:spPr>
          <a:xfrm>
            <a:off x="457200" y="1005840"/>
            <a:ext cx="2560320" cy="6200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</a:t>
            </a:r>
            <a:endParaRPr lang="en-US" sz="2000" dirty="0"/>
          </a:p>
        </p:txBody>
      </p:sp>
      <p:sp>
        <p:nvSpPr>
          <p:cNvPr id="11" name="Band Cowork"/>
          <p:cNvSpPr/>
          <p:nvPr/>
        </p:nvSpPr>
        <p:spPr>
          <a:xfrm>
            <a:off x="3291840" y="1005840"/>
            <a:ext cx="2560320" cy="62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</a:t>
            </a:r>
            <a:endParaRPr lang="en-US" sz="2000" dirty="0"/>
          </a:p>
        </p:txBody>
      </p:sp>
      <p:sp>
        <p:nvSpPr>
          <p:cNvPr id="12" name="Band Code"/>
          <p:cNvSpPr/>
          <p:nvPr/>
        </p:nvSpPr>
        <p:spPr>
          <a:xfrm>
            <a:off x="6126480" y="1005840"/>
            <a:ext cx="2560320" cy="62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2000" dirty="0"/>
          </a:p>
        </p:txBody>
      </p:sp>
      <p:sp>
        <p:nvSpPr>
          <p:cNvPr id="13" name="Body Chat"/>
          <p:cNvSpPr/>
          <p:nvPr/>
        </p:nvSpPr>
        <p:spPr>
          <a:xfrm>
            <a:off x="63720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通常チャット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質問・相談・文章作成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資料をまとめて活用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Artifact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文書・コード・図を生成</a:t>
            </a:r>
          </a:p>
        </p:txBody>
      </p:sp>
      <p:sp>
        <p:nvSpPr>
          <p:cNvPr id="14" name="Body Cowork"/>
          <p:cNvSpPr/>
          <p:nvPr/>
        </p:nvSpPr>
        <p:spPr>
          <a:xfrm>
            <a:off x="347184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スケジュール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定期的に自動で実行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ローカルファイル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PC のファイルを元に作業</a:t>
            </a:r>
          </a:p>
        </p:txBody>
      </p:sp>
      <p:sp>
        <p:nvSpPr>
          <p:cNvPr id="15" name="Body Code"/>
          <p:cNvSpPr/>
          <p:nvPr/>
        </p:nvSpPr>
        <p:spPr>
          <a:xfrm>
            <a:off x="6306480" y="1765840"/>
            <a:ext cx="220032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ローカル操作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ファイルの読み書き・編集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プログラミング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コードの作成・修正</a:t>
            </a:r>
          </a:p>
          <a:p>
            <a:pPr indent="0" marL="0">
              <a:spcBef>
                <a:spcPts val="1600"/>
              </a:spcBef>
              <a:buNone/>
            </a:pPr>
            <a:r>
              <a:rPr lang="en-US" sz="1300" b="1" kern="0" dirty="0">
                <a:solidFill>
                  <a:srgbClr val="0F1B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 アプリ作成</a:t>
            </a:r>
          </a:p>
          <a:p>
            <a:pPr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アプリ開発まで</a:t>
            </a:r>
          </a:p>
        </p:txBody>
      </p:sp>
      <p:sp>
        <p:nvSpPr>
          <p:cNvPr id="16" name="Footnote"/>
          <p:cNvSpPr/>
          <p:nvPr/>
        </p:nvSpPr>
        <p:spPr>
          <a:xfrm>
            <a:off x="457200" y="47900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kern="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目的に合わせて使い分けられる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MCP入門</dc:title>
  <dc:subject>PptxGenJS Presentation</dc:subject>
  <dc:creator>PptxGenJS</dc:creator>
  <cp:lastModifiedBy>PptxGenJS</cp:lastModifiedBy>
  <cp:revision>1</cp:revision>
  <dcterms:created xsi:type="dcterms:W3CDTF">2026-06-04T06:41:11Z</dcterms:created>
  <dcterms:modified xsi:type="dcterms:W3CDTF">2026-06-04T06:41:11Z</dcterms:modified>
</cp:coreProperties>
</file>